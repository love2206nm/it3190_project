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097280"/>
            <a:ext cx="10362895" cy="2011680"/>
          </a:xfrm>
          <a:prstGeom prst="rect">
            <a:avLst/>
          </a:prstGeom>
          <a:noFill/>
        </p:spPr>
        <p:txBody>
          <a:bodyPr wrap="square" lIns="0" tIns="0" rIns="0" bIns="0">
            <a:spAutoFit/>
          </a:bodyPr>
          <a:lstStyle/>
          <a:p>
            <a:r>
              <a:rPr sz="1600" b="1">
                <a:solidFill>
                  <a:srgbClr val="06B6D4"/>
                </a:solidFill>
                <a:latin typeface="Segoe UI"/>
              </a:rPr>
              <a:t>BÁO CÁO Ý TƯỞNG ĐỀ TÀI BÀI TẬP LỚN
</a:t>
            </a:r>
          </a:p>
          <a:p>
            <a:r>
              <a:rPr sz="2600" b="1">
                <a:solidFill>
                  <a:srgbClr val="F8FAFC"/>
                </a:solidFill>
                <a:latin typeface="Segoe UI"/>
              </a:rPr>
              <a:t>Nghiên Cứu, Thực Nghiệm và So Sánh Các Mô Hình Học Máy Trong Phân Loại Cảm Xúc Văn Bản Tiếng Việt</a:t>
            </a:r>
          </a:p>
          <a:p>
            <a:r>
              <a:rPr sz="1400">
                <a:solidFill>
                  <a:srgbClr val="94A3B8"/>
                </a:solidFill>
                <a:latin typeface="Segoe UI"/>
              </a:rPr>
              <a:t>
Môn học: Nhập môn Học máy và Khai phá dữ liệu (IT3190)</a:t>
            </a:r>
          </a:p>
        </p:txBody>
      </p:sp>
      <p:sp>
        <p:nvSpPr>
          <p:cNvPr id="5" name="Rounded Rectangle 4"/>
          <p:cNvSpPr/>
          <p:nvPr/>
        </p:nvSpPr>
        <p:spPr>
          <a:xfrm>
            <a:off x="914400" y="3474720"/>
            <a:ext cx="10362895" cy="256032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3657600"/>
            <a:ext cx="9814255" cy="1138773"/>
          </a:xfrm>
          <a:prstGeom prst="rect">
            <a:avLst/>
          </a:prstGeom>
          <a:noFill/>
        </p:spPr>
        <p:txBody>
          <a:bodyPr wrap="square">
            <a:spAutoFit/>
          </a:bodyPr>
          <a:lstStyle/>
          <a:p>
            <a:r>
              <a:rPr sz="1300" b="1" dirty="0">
                <a:solidFill>
                  <a:srgbClr val="06B6D4"/>
                </a:solidFill>
                <a:latin typeface="Segoe UI"/>
              </a:rPr>
              <a:t>NHÓM SINH VIÊN THỰC HIỆN:</a:t>
            </a:r>
          </a:p>
          <a:p>
            <a:r>
              <a:rPr sz="1100" dirty="0">
                <a:solidFill>
                  <a:srgbClr val="F8FAFC"/>
                </a:solidFill>
                <a:latin typeface="Segoe UI"/>
              </a:rPr>
              <a:t>• 1. Hải Nam (</a:t>
            </a:r>
            <a:r>
              <a:rPr lang="en-US" sz="1100" dirty="0">
                <a:solidFill>
                  <a:srgbClr val="F8FAFC"/>
                </a:solidFill>
                <a:latin typeface="Segoe UI"/>
              </a:rPr>
              <a:t>20251698</a:t>
            </a:r>
            <a:r>
              <a:rPr sz="1100" dirty="0">
                <a:solidFill>
                  <a:srgbClr val="F8FAFC"/>
                </a:solidFill>
                <a:latin typeface="Segoe UI"/>
              </a:rPr>
              <a:t>) — </a:t>
            </a:r>
            <a:r>
              <a:rPr sz="1100" dirty="0" err="1">
                <a:solidFill>
                  <a:srgbClr val="F8FAFC"/>
                </a:solidFill>
                <a:latin typeface="Segoe UI"/>
              </a:rPr>
              <a:t>Kiến</a:t>
            </a:r>
            <a:r>
              <a:rPr sz="1100" dirty="0">
                <a:solidFill>
                  <a:srgbClr val="F8FAFC"/>
                </a:solidFill>
                <a:latin typeface="Segoe UI"/>
              </a:rPr>
              <a:t> </a:t>
            </a:r>
            <a:r>
              <a:rPr sz="1100" dirty="0" err="1">
                <a:solidFill>
                  <a:srgbClr val="F8FAFC"/>
                </a:solidFill>
                <a:latin typeface="Segoe UI"/>
              </a:rPr>
              <a:t>trúc</a:t>
            </a:r>
            <a:r>
              <a:rPr sz="1100" dirty="0">
                <a:solidFill>
                  <a:srgbClr val="F8FAFC"/>
                </a:solidFill>
                <a:latin typeface="Segoe UI"/>
              </a:rPr>
              <a:t> </a:t>
            </a:r>
            <a:r>
              <a:rPr sz="1100" dirty="0" err="1">
                <a:solidFill>
                  <a:srgbClr val="F8FAFC"/>
                </a:solidFill>
                <a:latin typeface="Segoe UI"/>
              </a:rPr>
              <a:t>hệ</a:t>
            </a:r>
            <a:r>
              <a:rPr sz="1100" dirty="0">
                <a:solidFill>
                  <a:srgbClr val="F8FAFC"/>
                </a:solidFill>
                <a:latin typeface="Segoe UI"/>
              </a:rPr>
              <a:t> </a:t>
            </a:r>
            <a:r>
              <a:rPr sz="1100" dirty="0" err="1">
                <a:solidFill>
                  <a:srgbClr val="F8FAFC"/>
                </a:solidFill>
                <a:latin typeface="Segoe UI"/>
              </a:rPr>
              <a:t>thống</a:t>
            </a:r>
            <a:r>
              <a:rPr sz="1100" dirty="0">
                <a:solidFill>
                  <a:srgbClr val="F8FAFC"/>
                </a:solidFill>
                <a:latin typeface="Segoe UI"/>
              </a:rPr>
              <a:t>, </a:t>
            </a:r>
            <a:r>
              <a:rPr sz="1100" dirty="0" err="1">
                <a:solidFill>
                  <a:srgbClr val="F8FAFC"/>
                </a:solidFill>
                <a:latin typeface="Segoe UI"/>
              </a:rPr>
              <a:t>Điều</a:t>
            </a:r>
            <a:r>
              <a:rPr sz="1100" dirty="0">
                <a:solidFill>
                  <a:srgbClr val="F8FAFC"/>
                </a:solidFill>
                <a:latin typeface="Segoe UI"/>
              </a:rPr>
              <a:t> </a:t>
            </a:r>
            <a:r>
              <a:rPr sz="1100" dirty="0" err="1">
                <a:solidFill>
                  <a:srgbClr val="F8FAFC"/>
                </a:solidFill>
                <a:latin typeface="Segoe UI"/>
              </a:rPr>
              <a:t>phối</a:t>
            </a:r>
            <a:r>
              <a:rPr sz="1100" dirty="0">
                <a:solidFill>
                  <a:srgbClr val="F8FAFC"/>
                </a:solidFill>
                <a:latin typeface="Segoe UI"/>
              </a:rPr>
              <a:t> &amp; Báo </a:t>
            </a:r>
            <a:r>
              <a:rPr sz="1100" dirty="0" err="1">
                <a:solidFill>
                  <a:srgbClr val="F8FAFC"/>
                </a:solidFill>
                <a:latin typeface="Segoe UI"/>
              </a:rPr>
              <a:t>cáo</a:t>
            </a:r>
            <a:endParaRPr sz="1100" dirty="0">
              <a:solidFill>
                <a:srgbClr val="F8FAFC"/>
              </a:solidFill>
              <a:latin typeface="Segoe UI"/>
            </a:endParaRPr>
          </a:p>
          <a:p>
            <a:r>
              <a:rPr sz="1100" dirty="0">
                <a:solidFill>
                  <a:srgbClr val="F8FAFC"/>
                </a:solidFill>
                <a:latin typeface="Segoe UI"/>
              </a:rPr>
              <a:t>• 2. Bùi Mai </a:t>
            </a:r>
            <a:r>
              <a:rPr sz="1100" dirty="0" err="1">
                <a:solidFill>
                  <a:srgbClr val="F8FAFC"/>
                </a:solidFill>
                <a:latin typeface="Segoe UI"/>
              </a:rPr>
              <a:t>Hân</a:t>
            </a:r>
            <a:r>
              <a:rPr sz="1100" dirty="0">
                <a:solidFill>
                  <a:srgbClr val="F8FAFC"/>
                </a:solidFill>
                <a:latin typeface="Segoe UI"/>
              </a:rPr>
              <a:t> (202400041) — </a:t>
            </a:r>
            <a:r>
              <a:rPr sz="1100" dirty="0" err="1">
                <a:solidFill>
                  <a:srgbClr val="F8FAFC"/>
                </a:solidFill>
                <a:latin typeface="Segoe UI"/>
              </a:rPr>
              <a:t>Tiền</a:t>
            </a:r>
            <a:r>
              <a:rPr sz="1100" dirty="0">
                <a:solidFill>
                  <a:srgbClr val="F8FAFC"/>
                </a:solidFill>
                <a:latin typeface="Segoe UI"/>
              </a:rPr>
              <a:t> </a:t>
            </a:r>
            <a:r>
              <a:rPr sz="1100" dirty="0" err="1">
                <a:solidFill>
                  <a:srgbClr val="F8FAFC"/>
                </a:solidFill>
                <a:latin typeface="Segoe UI"/>
              </a:rPr>
              <a:t>xử</a:t>
            </a:r>
            <a:r>
              <a:rPr sz="1100" dirty="0">
                <a:solidFill>
                  <a:srgbClr val="F8FAFC"/>
                </a:solidFill>
                <a:latin typeface="Segoe UI"/>
              </a:rPr>
              <a:t> </a:t>
            </a:r>
            <a:r>
              <a:rPr sz="1100" dirty="0" err="1">
                <a:solidFill>
                  <a:srgbClr val="F8FAFC"/>
                </a:solidFill>
                <a:latin typeface="Segoe UI"/>
              </a:rPr>
              <a:t>lý</a:t>
            </a:r>
            <a:r>
              <a:rPr sz="1100" dirty="0">
                <a:solidFill>
                  <a:srgbClr val="F8FAFC"/>
                </a:solidFill>
                <a:latin typeface="Segoe UI"/>
              </a:rPr>
              <a:t> </a:t>
            </a:r>
            <a:r>
              <a:rPr sz="1100" dirty="0" err="1">
                <a:solidFill>
                  <a:srgbClr val="F8FAFC"/>
                </a:solidFill>
                <a:latin typeface="Segoe UI"/>
              </a:rPr>
              <a:t>dữ</a:t>
            </a:r>
            <a:r>
              <a:rPr sz="1100" dirty="0">
                <a:solidFill>
                  <a:srgbClr val="F8FAFC"/>
                </a:solidFill>
                <a:latin typeface="Segoe UI"/>
              </a:rPr>
              <a:t> </a:t>
            </a:r>
            <a:r>
              <a:rPr sz="1100" dirty="0" err="1">
                <a:solidFill>
                  <a:srgbClr val="F8FAFC"/>
                </a:solidFill>
                <a:latin typeface="Segoe UI"/>
              </a:rPr>
              <a:t>liệu</a:t>
            </a:r>
            <a:r>
              <a:rPr sz="1100" dirty="0">
                <a:solidFill>
                  <a:srgbClr val="F8FAFC"/>
                </a:solidFill>
                <a:latin typeface="Segoe UI"/>
              </a:rPr>
              <a:t> (Preprocessing) &amp; </a:t>
            </a:r>
            <a:r>
              <a:rPr sz="1100" dirty="0" err="1">
                <a:solidFill>
                  <a:srgbClr val="F8FAFC"/>
                </a:solidFill>
                <a:latin typeface="Segoe UI"/>
              </a:rPr>
              <a:t>Phân</a:t>
            </a:r>
            <a:r>
              <a:rPr sz="1100" dirty="0">
                <a:solidFill>
                  <a:srgbClr val="F8FAFC"/>
                </a:solidFill>
                <a:latin typeface="Segoe UI"/>
              </a:rPr>
              <a:t> </a:t>
            </a:r>
            <a:r>
              <a:rPr sz="1100" dirty="0" err="1">
                <a:solidFill>
                  <a:srgbClr val="F8FAFC"/>
                </a:solidFill>
                <a:latin typeface="Segoe UI"/>
              </a:rPr>
              <a:t>tích</a:t>
            </a:r>
            <a:r>
              <a:rPr sz="1100" dirty="0">
                <a:solidFill>
                  <a:srgbClr val="F8FAFC"/>
                </a:solidFill>
                <a:latin typeface="Segoe UI"/>
              </a:rPr>
              <a:t> </a:t>
            </a:r>
            <a:r>
              <a:rPr sz="1100" dirty="0" err="1">
                <a:solidFill>
                  <a:srgbClr val="F8FAFC"/>
                </a:solidFill>
                <a:latin typeface="Segoe UI"/>
              </a:rPr>
              <a:t>khám</a:t>
            </a:r>
            <a:r>
              <a:rPr sz="1100" dirty="0">
                <a:solidFill>
                  <a:srgbClr val="F8FAFC"/>
                </a:solidFill>
                <a:latin typeface="Segoe UI"/>
              </a:rPr>
              <a:t> </a:t>
            </a:r>
            <a:r>
              <a:rPr sz="1100" dirty="0" err="1">
                <a:solidFill>
                  <a:srgbClr val="F8FAFC"/>
                </a:solidFill>
                <a:latin typeface="Segoe UI"/>
              </a:rPr>
              <a:t>phá</a:t>
            </a:r>
            <a:r>
              <a:rPr sz="1100" dirty="0">
                <a:solidFill>
                  <a:srgbClr val="F8FAFC"/>
                </a:solidFill>
                <a:latin typeface="Segoe UI"/>
              </a:rPr>
              <a:t> (EDA)</a:t>
            </a:r>
          </a:p>
          <a:p>
            <a:r>
              <a:rPr sz="1100" dirty="0">
                <a:solidFill>
                  <a:srgbClr val="F8FAFC"/>
                </a:solidFill>
                <a:latin typeface="Segoe UI"/>
              </a:rPr>
              <a:t>• 3. Vũ </a:t>
            </a:r>
            <a:r>
              <a:rPr sz="1100" dirty="0" err="1">
                <a:solidFill>
                  <a:srgbClr val="F8FAFC"/>
                </a:solidFill>
                <a:latin typeface="Segoe UI"/>
              </a:rPr>
              <a:t>Đình</a:t>
            </a:r>
            <a:r>
              <a:rPr sz="1100" dirty="0">
                <a:solidFill>
                  <a:srgbClr val="F8FAFC"/>
                </a:solidFill>
                <a:latin typeface="Segoe UI"/>
              </a:rPr>
              <a:t> </a:t>
            </a:r>
            <a:r>
              <a:rPr sz="1100" dirty="0" err="1">
                <a:solidFill>
                  <a:srgbClr val="F8FAFC"/>
                </a:solidFill>
                <a:latin typeface="Segoe UI"/>
              </a:rPr>
              <a:t>Khôi</a:t>
            </a:r>
            <a:r>
              <a:rPr sz="1100" dirty="0">
                <a:solidFill>
                  <a:srgbClr val="F8FAFC"/>
                </a:solidFill>
                <a:latin typeface="Segoe UI"/>
              </a:rPr>
              <a:t> (20235124) — </a:t>
            </a:r>
            <a:r>
              <a:rPr sz="1100" dirty="0" err="1">
                <a:solidFill>
                  <a:srgbClr val="F8FAFC"/>
                </a:solidFill>
                <a:latin typeface="Segoe UI"/>
              </a:rPr>
              <a:t>Trích</a:t>
            </a:r>
            <a:r>
              <a:rPr sz="1100" dirty="0">
                <a:solidFill>
                  <a:srgbClr val="F8FAFC"/>
                </a:solidFill>
                <a:latin typeface="Segoe UI"/>
              </a:rPr>
              <a:t> </a:t>
            </a:r>
            <a:r>
              <a:rPr sz="1100" dirty="0" err="1">
                <a:solidFill>
                  <a:srgbClr val="F8FAFC"/>
                </a:solidFill>
                <a:latin typeface="Segoe UI"/>
              </a:rPr>
              <a:t>xuất</a:t>
            </a:r>
            <a:r>
              <a:rPr sz="1100" dirty="0">
                <a:solidFill>
                  <a:srgbClr val="F8FAFC"/>
                </a:solidFill>
                <a:latin typeface="Segoe UI"/>
              </a:rPr>
              <a:t> </a:t>
            </a:r>
            <a:r>
              <a:rPr sz="1100" dirty="0" err="1">
                <a:solidFill>
                  <a:srgbClr val="F8FAFC"/>
                </a:solidFill>
                <a:latin typeface="Segoe UI"/>
              </a:rPr>
              <a:t>đặc</a:t>
            </a:r>
            <a:r>
              <a:rPr sz="1100" dirty="0">
                <a:solidFill>
                  <a:srgbClr val="F8FAFC"/>
                </a:solidFill>
                <a:latin typeface="Segoe UI"/>
              </a:rPr>
              <a:t> </a:t>
            </a:r>
            <a:r>
              <a:rPr sz="1100" dirty="0" err="1">
                <a:solidFill>
                  <a:srgbClr val="F8FAFC"/>
                </a:solidFill>
                <a:latin typeface="Segoe UI"/>
              </a:rPr>
              <a:t>trưng</a:t>
            </a:r>
            <a:r>
              <a:rPr sz="1100" dirty="0">
                <a:solidFill>
                  <a:srgbClr val="F8FAFC"/>
                </a:solidFill>
                <a:latin typeface="Segoe UI"/>
              </a:rPr>
              <a:t> TF-IDF &amp; </a:t>
            </a:r>
            <a:r>
              <a:rPr sz="1100" dirty="0" err="1">
                <a:solidFill>
                  <a:srgbClr val="F8FAFC"/>
                </a:solidFill>
                <a:latin typeface="Segoe UI"/>
              </a:rPr>
              <a:t>Mô</a:t>
            </a:r>
            <a:r>
              <a:rPr sz="1100" dirty="0">
                <a:solidFill>
                  <a:srgbClr val="F8FAFC"/>
                </a:solidFill>
                <a:latin typeface="Segoe UI"/>
              </a:rPr>
              <a:t> </a:t>
            </a:r>
            <a:r>
              <a:rPr sz="1100" dirty="0" err="1">
                <a:solidFill>
                  <a:srgbClr val="F8FAFC"/>
                </a:solidFill>
                <a:latin typeface="Segoe UI"/>
              </a:rPr>
              <a:t>hình</a:t>
            </a:r>
            <a:r>
              <a:rPr sz="1100" dirty="0">
                <a:solidFill>
                  <a:srgbClr val="F8FAFC"/>
                </a:solidFill>
                <a:latin typeface="Segoe UI"/>
              </a:rPr>
              <a:t> Tuyến </a:t>
            </a:r>
            <a:r>
              <a:rPr sz="1100" dirty="0" err="1">
                <a:solidFill>
                  <a:srgbClr val="F8FAFC"/>
                </a:solidFill>
                <a:latin typeface="Segoe UI"/>
              </a:rPr>
              <a:t>tính</a:t>
            </a:r>
            <a:r>
              <a:rPr sz="1100" dirty="0">
                <a:solidFill>
                  <a:srgbClr val="F8FAFC"/>
                </a:solidFill>
                <a:latin typeface="Segoe UI"/>
              </a:rPr>
              <a:t> (Linear Models)</a:t>
            </a:r>
          </a:p>
          <a:p>
            <a:r>
              <a:rPr sz="1100" dirty="0">
                <a:solidFill>
                  <a:srgbClr val="F8FAFC"/>
                </a:solidFill>
                <a:latin typeface="Segoe UI"/>
              </a:rPr>
              <a:t>• 4. Vũ Trung Kiên (202416253) — </a:t>
            </a:r>
            <a:r>
              <a:rPr sz="1100" dirty="0" err="1">
                <a:solidFill>
                  <a:srgbClr val="F8FAFC"/>
                </a:solidFill>
                <a:latin typeface="Segoe UI"/>
              </a:rPr>
              <a:t>Thực</a:t>
            </a:r>
            <a:r>
              <a:rPr sz="1100" dirty="0">
                <a:solidFill>
                  <a:srgbClr val="F8FAFC"/>
                </a:solidFill>
                <a:latin typeface="Segoe UI"/>
              </a:rPr>
              <a:t> </a:t>
            </a:r>
            <a:r>
              <a:rPr sz="1100" dirty="0" err="1">
                <a:solidFill>
                  <a:srgbClr val="F8FAFC"/>
                </a:solidFill>
                <a:latin typeface="Segoe UI"/>
              </a:rPr>
              <a:t>nghiệm</a:t>
            </a:r>
            <a:r>
              <a:rPr sz="1100" dirty="0">
                <a:solidFill>
                  <a:srgbClr val="F8FAFC"/>
                </a:solidFill>
                <a:latin typeface="Segoe UI"/>
              </a:rPr>
              <a:t> </a:t>
            </a:r>
            <a:r>
              <a:rPr sz="1100" dirty="0" err="1">
                <a:solidFill>
                  <a:srgbClr val="F8FAFC"/>
                </a:solidFill>
                <a:latin typeface="Segoe UI"/>
              </a:rPr>
              <a:t>Mô</a:t>
            </a:r>
            <a:r>
              <a:rPr sz="1100" dirty="0">
                <a:solidFill>
                  <a:srgbClr val="F8FAFC"/>
                </a:solidFill>
                <a:latin typeface="Segoe UI"/>
              </a:rPr>
              <a:t> </a:t>
            </a:r>
            <a:r>
              <a:rPr sz="1100" dirty="0" err="1">
                <a:solidFill>
                  <a:srgbClr val="F8FAFC"/>
                </a:solidFill>
                <a:latin typeface="Segoe UI"/>
              </a:rPr>
              <a:t>hình</a:t>
            </a:r>
            <a:r>
              <a:rPr sz="1100" dirty="0">
                <a:solidFill>
                  <a:srgbClr val="F8FAFC"/>
                </a:solidFill>
                <a:latin typeface="Segoe UI"/>
              </a:rPr>
              <a:t> </a:t>
            </a:r>
            <a:r>
              <a:rPr sz="1100" dirty="0" err="1">
                <a:solidFill>
                  <a:srgbClr val="F8FAFC"/>
                </a:solidFill>
                <a:latin typeface="Segoe UI"/>
              </a:rPr>
              <a:t>Cây</a:t>
            </a:r>
            <a:r>
              <a:rPr sz="1100" dirty="0">
                <a:solidFill>
                  <a:srgbClr val="F8FAFC"/>
                </a:solidFill>
                <a:latin typeface="Segoe UI"/>
              </a:rPr>
              <a:t> </a:t>
            </a:r>
            <a:r>
              <a:rPr sz="1100" dirty="0" err="1">
                <a:solidFill>
                  <a:srgbClr val="F8FAFC"/>
                </a:solidFill>
                <a:latin typeface="Segoe UI"/>
              </a:rPr>
              <a:t>quyết</a:t>
            </a:r>
            <a:r>
              <a:rPr sz="1100" dirty="0">
                <a:solidFill>
                  <a:srgbClr val="F8FAFC"/>
                </a:solidFill>
                <a:latin typeface="Segoe UI"/>
              </a:rPr>
              <a:t> </a:t>
            </a:r>
            <a:r>
              <a:rPr sz="1100" dirty="0" err="1">
                <a:solidFill>
                  <a:srgbClr val="F8FAFC"/>
                </a:solidFill>
                <a:latin typeface="Segoe UI"/>
              </a:rPr>
              <a:t>định</a:t>
            </a:r>
            <a:r>
              <a:rPr sz="1100" dirty="0">
                <a:solidFill>
                  <a:srgbClr val="F8FAFC"/>
                </a:solidFill>
                <a:latin typeface="Segoe UI"/>
              </a:rPr>
              <a:t> &amp; Ensemble (Tree-based Models)</a:t>
            </a:r>
          </a:p>
          <a:p>
            <a:r>
              <a:rPr sz="1100" dirty="0">
                <a:solidFill>
                  <a:srgbClr val="F8FAFC"/>
                </a:solidFill>
                <a:latin typeface="Segoe UI"/>
              </a:rPr>
              <a:t>• 5. Nguyễn Hoàng Anh (202416121) — </a:t>
            </a:r>
            <a:r>
              <a:rPr sz="1100" dirty="0" err="1">
                <a:solidFill>
                  <a:srgbClr val="F8FAFC"/>
                </a:solidFill>
                <a:latin typeface="Segoe UI"/>
              </a:rPr>
              <a:t>Đánh</a:t>
            </a:r>
            <a:r>
              <a:rPr sz="1100" dirty="0">
                <a:solidFill>
                  <a:srgbClr val="F8FAFC"/>
                </a:solidFill>
                <a:latin typeface="Segoe UI"/>
              </a:rPr>
              <a:t> </a:t>
            </a:r>
            <a:r>
              <a:rPr sz="1100" dirty="0" err="1">
                <a:solidFill>
                  <a:srgbClr val="F8FAFC"/>
                </a:solidFill>
                <a:latin typeface="Segoe UI"/>
              </a:rPr>
              <a:t>giá</a:t>
            </a:r>
            <a:r>
              <a:rPr sz="1100" dirty="0">
                <a:solidFill>
                  <a:srgbClr val="F8FAFC"/>
                </a:solidFill>
                <a:latin typeface="Segoe UI"/>
              </a:rPr>
              <a:t> </a:t>
            </a:r>
            <a:r>
              <a:rPr sz="1100" dirty="0" err="1">
                <a:solidFill>
                  <a:srgbClr val="F8FAFC"/>
                </a:solidFill>
                <a:latin typeface="Segoe UI"/>
              </a:rPr>
              <a:t>mô</a:t>
            </a:r>
            <a:r>
              <a:rPr sz="1100" dirty="0">
                <a:solidFill>
                  <a:srgbClr val="F8FAFC"/>
                </a:solidFill>
                <a:latin typeface="Segoe UI"/>
              </a:rPr>
              <a:t> </a:t>
            </a:r>
            <a:r>
              <a:rPr sz="1100" dirty="0" err="1">
                <a:solidFill>
                  <a:srgbClr val="F8FAFC"/>
                </a:solidFill>
                <a:latin typeface="Segoe UI"/>
              </a:rPr>
              <a:t>hình</a:t>
            </a:r>
            <a:r>
              <a:rPr sz="1100" dirty="0">
                <a:solidFill>
                  <a:srgbClr val="F8FAFC"/>
                </a:solidFill>
                <a:latin typeface="Segoe UI"/>
              </a:rPr>
              <a:t> (Evaluation), Benchmark &amp; </a:t>
            </a:r>
            <a:r>
              <a:rPr sz="1100" dirty="0" err="1">
                <a:solidFill>
                  <a:srgbClr val="F8FAFC"/>
                </a:solidFill>
                <a:latin typeface="Segoe UI"/>
              </a:rPr>
              <a:t>Phân</a:t>
            </a:r>
            <a:r>
              <a:rPr sz="1100" dirty="0">
                <a:solidFill>
                  <a:srgbClr val="F8FAFC"/>
                </a:solidFill>
                <a:latin typeface="Segoe UI"/>
              </a:rPr>
              <a:t> </a:t>
            </a:r>
            <a:r>
              <a:rPr sz="1100" dirty="0" err="1">
                <a:solidFill>
                  <a:srgbClr val="F8FAFC"/>
                </a:solidFill>
                <a:latin typeface="Segoe UI"/>
              </a:rPr>
              <a:t>tích</a:t>
            </a:r>
            <a:r>
              <a:rPr sz="1100" dirty="0">
                <a:solidFill>
                  <a:srgbClr val="F8FAFC"/>
                </a:solidFill>
                <a:latin typeface="Segoe UI"/>
              </a:rPr>
              <a:t> </a:t>
            </a:r>
            <a:r>
              <a:rPr sz="1100" dirty="0" err="1">
                <a:solidFill>
                  <a:srgbClr val="F8FAFC"/>
                </a:solidFill>
                <a:latin typeface="Segoe UI"/>
              </a:rPr>
              <a:t>lỗi</a:t>
            </a:r>
            <a:r>
              <a:rPr sz="1100" dirty="0">
                <a:solidFill>
                  <a:srgbClr val="F8FAFC"/>
                </a:solidFill>
                <a:latin typeface="Segoe UI"/>
              </a:rPr>
              <a:t> (Error Analysis)</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r>
              <a:rPr sz="2000" b="1">
                <a:solidFill>
                  <a:srgbClr val="2563EB"/>
                </a:solidFill>
                <a:latin typeface="Segoe UI"/>
              </a:rPr>
              <a:t>01. </a:t>
            </a:r>
            <a:r>
              <a:rPr sz="2000" b="1">
                <a:solidFill>
                  <a:srgbClr val="0F172A"/>
                </a:solidFill>
                <a:latin typeface="Segoe UI"/>
              </a:rPr>
              <a:t>NỘI DUNG BÁO CÁO Ý TƯỞNG ĐỀ TÀI</a:t>
            </a:r>
          </a:p>
        </p:txBody>
      </p:sp>
      <p:sp>
        <p:nvSpPr>
          <p:cNvPr id="4" name="Rectangle 3"/>
          <p:cNvSpPr/>
          <p:nvPr/>
        </p:nvSpPr>
        <p:spPr>
          <a:xfrm>
            <a:off x="731520" y="1188720"/>
            <a:ext cx="1072865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572768"/>
            <a:ext cx="10362895" cy="685800"/>
          </a:xfrm>
          <a:prstGeom prst="rect">
            <a:avLst/>
          </a:prstGeom>
          <a:noFill/>
        </p:spPr>
        <p:txBody>
          <a:bodyPr wrap="square">
            <a:spAutoFit/>
          </a:bodyPr>
          <a:lstStyle/>
          <a:p>
            <a:r>
              <a:rPr sz="1300" b="1">
                <a:solidFill>
                  <a:srgbClr val="2563EB"/>
                </a:solidFill>
                <a:latin typeface="Segoe UI"/>
              </a:rPr>
              <a:t>[PHẦN I]  </a:t>
            </a:r>
            <a:r>
              <a:rPr sz="1300" b="1">
                <a:solidFill>
                  <a:srgbClr val="0F172A"/>
                </a:solidFill>
                <a:latin typeface="Segoe UI"/>
              </a:rPr>
              <a:t>Bài Toán Thực Tế &amp; Khảo Sát Dữ Liệu
</a:t>
            </a:r>
            <a:r>
              <a:rPr sz="1050">
                <a:solidFill>
                  <a:srgbClr val="475569"/>
                </a:solidFill>
                <a:latin typeface="Segoe UI"/>
              </a:rPr>
              <a:t>Bối cảnh thực tế, định nghĩa đầu vào/đầu ra và khảo sát tập dữ liệu học thuật UIT-VSMEC.</a:t>
            </a:r>
          </a:p>
        </p:txBody>
      </p:sp>
      <p:sp>
        <p:nvSpPr>
          <p:cNvPr id="7" name="Rounded Rectangle 6"/>
          <p:cNvSpPr/>
          <p:nvPr/>
        </p:nvSpPr>
        <p:spPr>
          <a:xfrm>
            <a:off x="731520" y="242316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14400" y="2532888"/>
            <a:ext cx="10362895" cy="685800"/>
          </a:xfrm>
          <a:prstGeom prst="rect">
            <a:avLst/>
          </a:prstGeom>
          <a:noFill/>
        </p:spPr>
        <p:txBody>
          <a:bodyPr wrap="square">
            <a:spAutoFit/>
          </a:bodyPr>
          <a:lstStyle/>
          <a:p>
            <a:r>
              <a:rPr sz="1300" b="1">
                <a:solidFill>
                  <a:srgbClr val="2563EB"/>
                </a:solidFill>
                <a:latin typeface="Segoe UI"/>
              </a:rPr>
              <a:t>[PHẦN II]  </a:t>
            </a:r>
            <a:r>
              <a:rPr sz="1300" b="1">
                <a:solidFill>
                  <a:srgbClr val="0F172A"/>
                </a:solidFill>
                <a:latin typeface="Segoe UI"/>
              </a:rPr>
              <a:t>Tiền Xử Lý Dữ Liệu &amp; Biểu Diễn Đặc Trưng
</a:t>
            </a:r>
            <a:r>
              <a:rPr sz="1050">
                <a:solidFill>
                  <a:srgbClr val="475569"/>
                </a:solidFill>
                <a:latin typeface="Segoe UI"/>
              </a:rPr>
              <a:t>Quy trình làm sạch teencode/emoji và chuyển đổi văn bản sang vector TF-IDF N-grams.</a:t>
            </a:r>
          </a:p>
        </p:txBody>
      </p:sp>
      <p:sp>
        <p:nvSpPr>
          <p:cNvPr id="9" name="Rounded Rectangle 8"/>
          <p:cNvSpPr/>
          <p:nvPr/>
        </p:nvSpPr>
        <p:spPr>
          <a:xfrm>
            <a:off x="731520" y="338328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14400" y="3493008"/>
            <a:ext cx="10362895" cy="685800"/>
          </a:xfrm>
          <a:prstGeom prst="rect">
            <a:avLst/>
          </a:prstGeom>
          <a:noFill/>
        </p:spPr>
        <p:txBody>
          <a:bodyPr wrap="square">
            <a:spAutoFit/>
          </a:bodyPr>
          <a:lstStyle/>
          <a:p>
            <a:r>
              <a:rPr sz="1300" b="1">
                <a:solidFill>
                  <a:srgbClr val="2563EB"/>
                </a:solidFill>
                <a:latin typeface="Segoe UI"/>
              </a:rPr>
              <a:t>[PHẦN III]  </a:t>
            </a:r>
            <a:r>
              <a:rPr sz="1300" b="1">
                <a:solidFill>
                  <a:srgbClr val="0F172A"/>
                </a:solidFill>
                <a:latin typeface="Segoe UI"/>
              </a:rPr>
              <a:t>Các Giải Thuật Học Máy Thực Nghiệm
</a:t>
            </a:r>
            <a:r>
              <a:rPr sz="1050">
                <a:solidFill>
                  <a:srgbClr val="475569"/>
                </a:solidFill>
                <a:latin typeface="Segoe UI"/>
              </a:rPr>
              <a:t>Chi tiết 3 họ mô hình đối đầu: Xác suất (Naive Bayes), Tuyến tính (SVM/LogReg) và Cây (Decision Tree/Random Forest).</a:t>
            </a:r>
          </a:p>
        </p:txBody>
      </p:sp>
      <p:sp>
        <p:nvSpPr>
          <p:cNvPr id="11" name="Rounded Rectangle 10"/>
          <p:cNvSpPr/>
          <p:nvPr/>
        </p:nvSpPr>
        <p:spPr>
          <a:xfrm>
            <a:off x="731520" y="434340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453128"/>
            <a:ext cx="10362895" cy="685800"/>
          </a:xfrm>
          <a:prstGeom prst="rect">
            <a:avLst/>
          </a:prstGeom>
          <a:noFill/>
        </p:spPr>
        <p:txBody>
          <a:bodyPr wrap="square">
            <a:spAutoFit/>
          </a:bodyPr>
          <a:lstStyle/>
          <a:p>
            <a:r>
              <a:rPr sz="1300" b="1">
                <a:solidFill>
                  <a:srgbClr val="2563EB"/>
                </a:solidFill>
                <a:latin typeface="Segoe UI"/>
              </a:rPr>
              <a:t>[PHẦN IV]  </a:t>
            </a:r>
            <a:r>
              <a:rPr sz="1300" b="1">
                <a:solidFill>
                  <a:srgbClr val="0F172A"/>
                </a:solidFill>
                <a:latin typeface="Segoe UI"/>
              </a:rPr>
              <a:t>Chiến Lược Tối Ưu &amp; Phương Pháp Đánh Giá
</a:t>
            </a:r>
            <a:r>
              <a:rPr sz="1050">
                <a:solidFill>
                  <a:srgbClr val="475569"/>
                </a:solidFill>
                <a:latin typeface="Segoe UI"/>
              </a:rPr>
              <a:t>Stratified K-Fold (K=5), Grid Search CV, độ đo Macro-F1, Confusion Matrix và Error Analysis.</a:t>
            </a:r>
          </a:p>
        </p:txBody>
      </p:sp>
      <p:sp>
        <p:nvSpPr>
          <p:cNvPr id="13" name="Rounded Rectangle 12"/>
          <p:cNvSpPr/>
          <p:nvPr/>
        </p:nvSpPr>
        <p:spPr>
          <a:xfrm>
            <a:off x="731520" y="5303520"/>
            <a:ext cx="10728655" cy="868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14400" y="5413248"/>
            <a:ext cx="10362895" cy="685800"/>
          </a:xfrm>
          <a:prstGeom prst="rect">
            <a:avLst/>
          </a:prstGeom>
          <a:noFill/>
        </p:spPr>
        <p:txBody>
          <a:bodyPr wrap="square">
            <a:spAutoFit/>
          </a:bodyPr>
          <a:lstStyle/>
          <a:p>
            <a:r>
              <a:rPr sz="1300" b="1">
                <a:solidFill>
                  <a:srgbClr val="2563EB"/>
                </a:solidFill>
                <a:latin typeface="Segoe UI"/>
              </a:rPr>
              <a:t>[PHẦN V]  </a:t>
            </a:r>
            <a:r>
              <a:rPr sz="1300" b="1">
                <a:solidFill>
                  <a:srgbClr val="0F172A"/>
                </a:solidFill>
                <a:latin typeface="Segoe UI"/>
              </a:rPr>
              <a:t>Kế Hoạch Triển Khai &amp; Hướng Mở Rộng
</a:t>
            </a:r>
            <a:r>
              <a:rPr sz="1050">
                <a:solidFill>
                  <a:srgbClr val="475569"/>
                </a:solidFill>
                <a:latin typeface="Segoe UI"/>
              </a:rPr>
              <a:t>Phân công công việc 5 thành viên, lộ trình 4 tuần và hướng tích hợp nâng cao.</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animBg="1"/>
      <p:bldP spid="8" grpId="0"/>
      <p:bldP spid="9" grpId="0" animBg="1"/>
      <p:bldP spid="10" grpId="0"/>
      <p:bldP spid="11" grpId="0" animBg="1"/>
      <p:bldP spid="12" grpId="0"/>
      <p:bldP spid="13" grpId="0" animBg="1"/>
      <p:bldP spid="1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r>
              <a:rPr sz="2000" b="1">
                <a:solidFill>
                  <a:srgbClr val="2563EB"/>
                </a:solidFill>
                <a:latin typeface="Segoe UI"/>
              </a:rPr>
              <a:t>02. </a:t>
            </a:r>
            <a:r>
              <a:rPr sz="2000" b="1">
                <a:solidFill>
                  <a:srgbClr val="0F172A"/>
                </a:solidFill>
                <a:latin typeface="Segoe UI"/>
              </a:rPr>
              <a:t>BỐI CẢNH &amp; BÀI TOÁN THỰC TẾ CẦN GIẢI QUYẾT</a:t>
            </a:r>
          </a:p>
        </p:txBody>
      </p:sp>
      <p:sp>
        <p:nvSpPr>
          <p:cNvPr id="4" name="Rectangle 3"/>
          <p:cNvSpPr/>
          <p:nvPr/>
        </p:nvSpPr>
        <p:spPr>
          <a:xfrm>
            <a:off x="731520" y="1188720"/>
            <a:ext cx="1072865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34134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3047695" cy="457200"/>
          </a:xfrm>
          <a:prstGeom prst="rect">
            <a:avLst/>
          </a:prstGeom>
          <a:noFill/>
        </p:spPr>
        <p:txBody>
          <a:bodyPr wrap="square" lIns="0" tIns="0" rIns="0" bIns="0">
            <a:spAutoFit/>
          </a:bodyPr>
          <a:lstStyle/>
          <a:p>
            <a:r>
              <a:rPr sz="1300" b="1">
                <a:solidFill>
                  <a:srgbClr val="2563EB"/>
                </a:solidFill>
                <a:latin typeface="Segoe UI"/>
              </a:rPr>
              <a:t>Sự Bùng Nổ Dữ Liệu Mạng Xã Hội</a:t>
            </a:r>
            <a:r>
              <a:rPr sz="1000" b="1">
                <a:solidFill>
                  <a:srgbClr val="06B6D4"/>
                </a:solidFill>
                <a:latin typeface="Segoe UI"/>
              </a:rPr>
              <a:t>  [BỐI CẢNH THỊ TRƯỜNG]</a:t>
            </a:r>
          </a:p>
        </p:txBody>
      </p:sp>
      <p:sp>
        <p:nvSpPr>
          <p:cNvPr id="7" name="TextBox 6"/>
          <p:cNvSpPr txBox="1"/>
          <p:nvPr/>
        </p:nvSpPr>
        <p:spPr>
          <a:xfrm>
            <a:off x="914400" y="2103120"/>
            <a:ext cx="3047695" cy="4023360"/>
          </a:xfrm>
          <a:prstGeom prst="rect">
            <a:avLst/>
          </a:prstGeom>
          <a:noFill/>
        </p:spPr>
        <p:txBody>
          <a:bodyPr wrap="square">
            <a:spAutoFit/>
          </a:bodyPr>
          <a:lstStyle/>
          <a:p>
            <a:r>
              <a:rPr sz="1100" b="1">
                <a:solidFill>
                  <a:srgbClr val="0F172A"/>
                </a:solidFill>
                <a:latin typeface="Segoe UI"/>
              </a:rPr>
              <a:t>• Mạng xã hội &amp; TMĐT tại Việt Nam
</a:t>
            </a:r>
            <a:r>
              <a:rPr sz="1000">
                <a:solidFill>
                  <a:srgbClr val="475569"/>
                </a:solidFill>
                <a:latin typeface="Segoe UI"/>
              </a:rPr>
              <a:t>Facebook, Shopee, TikTok bùng nổ hàng triệu tương tác mỗi ngày.
</a:t>
            </a:r>
          </a:p>
          <a:p>
            <a:r>
              <a:rPr sz="1100" b="1">
                <a:solidFill>
                  <a:srgbClr val="0F172A"/>
                </a:solidFill>
                <a:latin typeface="Segoe UI"/>
              </a:rPr>
              <a:t>• Phản hồi khách hàng (Reviews/Comments)
</a:t>
            </a:r>
            <a:r>
              <a:rPr sz="1000">
                <a:solidFill>
                  <a:srgbClr val="475569"/>
                </a:solidFill>
                <a:latin typeface="Segoe UI"/>
              </a:rPr>
              <a:t>Chứa đựng cảm xúc chân thực của người dùng về chất lượng sản phẩm, dịch vụ.
</a:t>
            </a:r>
          </a:p>
          <a:p>
            <a:r>
              <a:rPr sz="1100" b="1">
                <a:solidFill>
                  <a:srgbClr val="0F172A"/>
                </a:solidFill>
                <a:latin typeface="Segoe UI"/>
              </a:rPr>
              <a:t>• Nhu cầu tự động hóa
</a:t>
            </a:r>
            <a:r>
              <a:rPr sz="1000">
                <a:solidFill>
                  <a:srgbClr val="475569"/>
                </a:solidFill>
                <a:latin typeface="Segoe UI"/>
              </a:rPr>
              <a:t>Con người không thể kiểm duyệt thủ công hàng chục nghìn bình luận theo thời gian thực.
</a:t>
            </a:r>
          </a:p>
        </p:txBody>
      </p:sp>
      <p:sp>
        <p:nvSpPr>
          <p:cNvPr id="8" name="Rounded Rectangle 7"/>
          <p:cNvSpPr/>
          <p:nvPr/>
        </p:nvSpPr>
        <p:spPr>
          <a:xfrm>
            <a:off x="4389120" y="1463040"/>
            <a:ext cx="34134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600200"/>
            <a:ext cx="3047695" cy="457200"/>
          </a:xfrm>
          <a:prstGeom prst="rect">
            <a:avLst/>
          </a:prstGeom>
          <a:noFill/>
        </p:spPr>
        <p:txBody>
          <a:bodyPr wrap="square" lIns="0" tIns="0" rIns="0" bIns="0">
            <a:spAutoFit/>
          </a:bodyPr>
          <a:lstStyle/>
          <a:p>
            <a:r>
              <a:rPr sz="1300" b="1">
                <a:solidFill>
                  <a:srgbClr val="2563EB"/>
                </a:solidFill>
                <a:latin typeface="Segoe UI"/>
              </a:rPr>
              <a:t>Đặc Thù Ngôn Ngữ Tiếng Việt</a:t>
            </a:r>
            <a:r>
              <a:rPr sz="1000" b="1">
                <a:solidFill>
                  <a:srgbClr val="06B6D4"/>
                </a:solidFill>
                <a:latin typeface="Segoe UI"/>
              </a:rPr>
              <a:t>  [THÁCH THỨC ĐẶT RA]</a:t>
            </a:r>
          </a:p>
        </p:txBody>
      </p:sp>
      <p:sp>
        <p:nvSpPr>
          <p:cNvPr id="10" name="TextBox 9"/>
          <p:cNvSpPr txBox="1"/>
          <p:nvPr/>
        </p:nvSpPr>
        <p:spPr>
          <a:xfrm>
            <a:off x="4572000" y="2103120"/>
            <a:ext cx="3047695" cy="4023360"/>
          </a:xfrm>
          <a:prstGeom prst="rect">
            <a:avLst/>
          </a:prstGeom>
          <a:noFill/>
        </p:spPr>
        <p:txBody>
          <a:bodyPr wrap="square">
            <a:spAutoFit/>
          </a:bodyPr>
          <a:lstStyle/>
          <a:p>
            <a:r>
              <a:rPr sz="1100" b="1">
                <a:solidFill>
                  <a:srgbClr val="0F172A"/>
                </a:solidFill>
                <a:latin typeface="Segoe UI"/>
              </a:rPr>
              <a:t>• Ngôn ngữ phi cấu trúc
</a:t>
            </a:r>
            <a:r>
              <a:rPr sz="1000">
                <a:solidFill>
                  <a:srgbClr val="475569"/>
                </a:solidFill>
                <a:latin typeface="Segoe UI"/>
              </a:rPr>
              <a:t>Người dùng mạng xã hội sử dụng mật độ dày đặc teencode, viết tắt, tiếng lóng.
</a:t>
            </a:r>
          </a:p>
          <a:p>
            <a:r>
              <a:rPr sz="1100" b="1">
                <a:solidFill>
                  <a:srgbClr val="0F172A"/>
                </a:solidFill>
                <a:latin typeface="Segoe UI"/>
              </a:rPr>
              <a:t>• Biểu tượng cảm xúc (Emoji)
</a:t>
            </a:r>
            <a:r>
              <a:rPr sz="1000">
                <a:solidFill>
                  <a:srgbClr val="475569"/>
                </a:solidFill>
                <a:latin typeface="Segoe UI"/>
              </a:rPr>
              <a:t>Icon cảm xúc đa dạng, đôi khi thay thế hoàn toàn cho từ ngữ thể hiện tâm trạng.
</a:t>
            </a:r>
          </a:p>
          <a:p>
            <a:r>
              <a:rPr sz="1100" b="1">
                <a:solidFill>
                  <a:srgbClr val="0F172A"/>
                </a:solidFill>
                <a:latin typeface="Segoe UI"/>
              </a:rPr>
              <a:t>• Tính chất mỉa mai, châm biếm
</a:t>
            </a:r>
            <a:r>
              <a:rPr sz="1000">
                <a:solidFill>
                  <a:srgbClr val="475569"/>
                </a:solidFill>
                <a:latin typeface="Segoe UI"/>
              </a:rPr>
              <a:t>Khen nhưng thực chất là chê, câu chứa cả từ tích cực lẫn tiêu cực.
</a:t>
            </a:r>
          </a:p>
        </p:txBody>
      </p:sp>
      <p:sp>
        <p:nvSpPr>
          <p:cNvPr id="11" name="Rounded Rectangle 10"/>
          <p:cNvSpPr/>
          <p:nvPr/>
        </p:nvSpPr>
        <p:spPr>
          <a:xfrm>
            <a:off x="8046720" y="1463040"/>
            <a:ext cx="34134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1600200"/>
            <a:ext cx="3047695" cy="457200"/>
          </a:xfrm>
          <a:prstGeom prst="rect">
            <a:avLst/>
          </a:prstGeom>
          <a:noFill/>
        </p:spPr>
        <p:txBody>
          <a:bodyPr wrap="square" lIns="0" tIns="0" rIns="0" bIns="0">
            <a:spAutoFit/>
          </a:bodyPr>
          <a:lstStyle/>
          <a:p>
            <a:r>
              <a:rPr sz="1300" b="1">
                <a:solidFill>
                  <a:srgbClr val="2563EB"/>
                </a:solidFill>
                <a:latin typeface="Segoe UI"/>
              </a:rPr>
              <a:t>Xây Dựng Hệ Thống Phân Loại</a:t>
            </a:r>
            <a:r>
              <a:rPr sz="1000" b="1">
                <a:solidFill>
                  <a:srgbClr val="06B6D4"/>
                </a:solidFill>
                <a:latin typeface="Segoe UI"/>
              </a:rPr>
              <a:t>  [MỤC TIÊU GIẢI PHÁP]</a:t>
            </a:r>
          </a:p>
        </p:txBody>
      </p:sp>
      <p:sp>
        <p:nvSpPr>
          <p:cNvPr id="13" name="TextBox 12"/>
          <p:cNvSpPr txBox="1"/>
          <p:nvPr/>
        </p:nvSpPr>
        <p:spPr>
          <a:xfrm>
            <a:off x="8229600" y="2103120"/>
            <a:ext cx="3047695" cy="4023360"/>
          </a:xfrm>
          <a:prstGeom prst="rect">
            <a:avLst/>
          </a:prstGeom>
          <a:noFill/>
        </p:spPr>
        <p:txBody>
          <a:bodyPr wrap="square">
            <a:spAutoFit/>
          </a:bodyPr>
          <a:lstStyle/>
          <a:p>
            <a:r>
              <a:rPr sz="1100" b="1">
                <a:solidFill>
                  <a:srgbClr val="0F172A"/>
                </a:solidFill>
                <a:latin typeface="Segoe UI"/>
              </a:rPr>
              <a:t>• Ứng dụng Học máy &amp; Khai phá dữ liệu
</a:t>
            </a:r>
            <a:r>
              <a:rPr sz="1000">
                <a:solidFill>
                  <a:srgbClr val="475569"/>
                </a:solidFill>
                <a:latin typeface="Segoe UI"/>
              </a:rPr>
              <a:t>Tự động phân loại chính xác trạng thái cảm xúc của văn bản.
</a:t>
            </a:r>
          </a:p>
          <a:p>
            <a:r>
              <a:rPr sz="1100" b="1">
                <a:solidFill>
                  <a:srgbClr val="0F172A"/>
                </a:solidFill>
                <a:latin typeface="Segoe UI"/>
              </a:rPr>
              <a:t>• Phân loại đa lớp (Multi-class)
</a:t>
            </a:r>
            <a:r>
              <a:rPr sz="1000">
                <a:solidFill>
                  <a:srgbClr val="475569"/>
                </a:solidFill>
                <a:latin typeface="Segoe UI"/>
              </a:rPr>
              <a:t>Nhận diện 7 sắc thái cảm xúc chi tiết thay vì chỉ tích cực / tiêu cực đơn thuần.
</a:t>
            </a:r>
          </a:p>
          <a:p>
            <a:r>
              <a:rPr sz="1100" b="1">
                <a:solidFill>
                  <a:srgbClr val="0F172A"/>
                </a:solidFill>
                <a:latin typeface="Segoe UI"/>
              </a:rPr>
              <a:t>• Giá trị thực tiễn
</a:t>
            </a:r>
            <a:r>
              <a:rPr sz="1000">
                <a:solidFill>
                  <a:srgbClr val="475569"/>
                </a:solidFill>
                <a:latin typeface="Segoe UI"/>
              </a:rPr>
              <a:t>Cảnh báo khủng hoảng truyền thông tức thì khi phát hiện cảm xúc giận dữ/tẩy chay.
</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P spid="11" grpId="0" animBg="1"/>
      <p:bldP spid="12" grpId="0"/>
      <p:bldP spid="1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r>
              <a:rPr sz="2000" b="1">
                <a:solidFill>
                  <a:srgbClr val="2563EB"/>
                </a:solidFill>
                <a:latin typeface="Segoe UI"/>
              </a:rPr>
              <a:t>03. </a:t>
            </a:r>
            <a:r>
              <a:rPr sz="2000" b="1">
                <a:solidFill>
                  <a:srgbClr val="0F172A"/>
                </a:solidFill>
                <a:latin typeface="Segoe UI"/>
              </a:rPr>
              <a:t>ĐẦU VÀO (INPUT) &amp; ĐẦU RA (OUTPUT) CỦA HỆ THỐNG</a:t>
            </a:r>
          </a:p>
        </p:txBody>
      </p:sp>
      <p:sp>
        <p:nvSpPr>
          <p:cNvPr id="4" name="Rectangle 3"/>
          <p:cNvSpPr/>
          <p:nvPr/>
        </p:nvSpPr>
        <p:spPr>
          <a:xfrm>
            <a:off x="731520" y="1188720"/>
            <a:ext cx="1072865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52120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4846320" cy="457200"/>
          </a:xfrm>
          <a:prstGeom prst="rect">
            <a:avLst/>
          </a:prstGeom>
          <a:noFill/>
        </p:spPr>
        <p:txBody>
          <a:bodyPr wrap="square" lIns="0" tIns="0" rIns="0" bIns="0">
            <a:spAutoFit/>
          </a:bodyPr>
          <a:lstStyle/>
          <a:p>
            <a:r>
              <a:rPr sz="1300" b="1">
                <a:solidFill>
                  <a:srgbClr val="2563EB"/>
                </a:solidFill>
                <a:latin typeface="Segoe UI"/>
              </a:rPr>
              <a:t>ĐẦU VÀO (INPUT) CỦA HỆ THỐNG</a:t>
            </a:r>
            <a:r>
              <a:rPr sz="1000" b="1">
                <a:solidFill>
                  <a:srgbClr val="06B6D4"/>
                </a:solidFill>
                <a:latin typeface="Segoe UI"/>
              </a:rPr>
              <a:t>  [VĂN BẢN THÔ]</a:t>
            </a:r>
          </a:p>
        </p:txBody>
      </p:sp>
      <p:sp>
        <p:nvSpPr>
          <p:cNvPr id="7" name="TextBox 6"/>
          <p:cNvSpPr txBox="1"/>
          <p:nvPr/>
        </p:nvSpPr>
        <p:spPr>
          <a:xfrm>
            <a:off x="914400" y="2103120"/>
            <a:ext cx="4846320" cy="3108960"/>
          </a:xfrm>
          <a:prstGeom prst="rect">
            <a:avLst/>
          </a:prstGeom>
          <a:noFill/>
        </p:spPr>
        <p:txBody>
          <a:bodyPr wrap="square">
            <a:spAutoFit/>
          </a:bodyPr>
          <a:lstStyle/>
          <a:p>
            <a:pPr>
              <a:defRPr sz="1200" b="1"/>
            </a:pPr>
            <a:r>
              <a:t>• Định dạng dữ liệu:</a:t>
            </a:r>
          </a:p>
          <a:p>
            <a:pPr>
              <a:defRPr sz="1100">
                <a:solidFill>
                  <a:srgbClr val="475569"/>
                </a:solidFill>
              </a:defRPr>
            </a:pPr>
            <a:r>
              <a:t>Chuỗi văn bản ngắn tiếng Việt (Short Text) từ bình luận hoặc bài đăng mạng xã hội.</a:t>
            </a:r>
            <a:br/>
            <a:endParaRPr/>
          </a:p>
          <a:p>
            <a:pPr>
              <a:defRPr sz="1100"/>
            </a:pPr>
            <a:r>
              <a:t>• Đặc thù của dữ liệu đầu vào:</a:t>
            </a:r>
            <a:br/>
            <a:r>
              <a:t>  - Chứa lỗi chính tả, teencode (ví dụ: 'ko', 'dc', 'vs', 'mik')</a:t>
            </a:r>
            <a:br/>
            <a:r>
              <a:t>  - Chứa biểu tượng emoji (😡, 😂, 😭, :)), link spam</a:t>
            </a:r>
            <a:br/>
            <a:r>
              <a:t>  - Độ dài câu không đồng đều (từ 3 đến 60 từ)</a:t>
            </a:r>
          </a:p>
          <a:p>
            <a:br/>
            <a:r>
              <a:t>• Ví dụ Input thực tế:</a:t>
            </a:r>
            <a:br/>
            <a:r>
              <a:t>  "Món này dở tệ :(( ko thể nuốt nổi, phục vụ thì kém 😡"</a:t>
            </a:r>
          </a:p>
        </p:txBody>
      </p:sp>
      <p:sp>
        <p:nvSpPr>
          <p:cNvPr id="8" name="Rounded Rectangle 7"/>
          <p:cNvSpPr/>
          <p:nvPr/>
        </p:nvSpPr>
        <p:spPr>
          <a:xfrm>
            <a:off x="6217920" y="1463040"/>
            <a:ext cx="5212080"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00200"/>
            <a:ext cx="4846320" cy="457200"/>
          </a:xfrm>
          <a:prstGeom prst="rect">
            <a:avLst/>
          </a:prstGeom>
          <a:noFill/>
        </p:spPr>
        <p:txBody>
          <a:bodyPr wrap="square" lIns="0" tIns="0" rIns="0" bIns="0">
            <a:spAutoFit/>
          </a:bodyPr>
          <a:lstStyle/>
          <a:p>
            <a:r>
              <a:rPr sz="1300" b="1">
                <a:solidFill>
                  <a:srgbClr val="2563EB"/>
                </a:solidFill>
                <a:latin typeface="Segoe UI"/>
              </a:rPr>
              <a:t>ĐẦU RA (OUTPUT) CỦA HỆ THỐNG</a:t>
            </a:r>
            <a:r>
              <a:rPr sz="1000" b="1">
                <a:solidFill>
                  <a:srgbClr val="06B6D4"/>
                </a:solidFill>
                <a:latin typeface="Segoe UI"/>
              </a:rPr>
              <a:t>  [NHÃN CẢM XÚC &amp; XÁC SUẤT]</a:t>
            </a:r>
          </a:p>
        </p:txBody>
      </p:sp>
      <p:sp>
        <p:nvSpPr>
          <p:cNvPr id="10" name="TextBox 9"/>
          <p:cNvSpPr txBox="1"/>
          <p:nvPr/>
        </p:nvSpPr>
        <p:spPr>
          <a:xfrm>
            <a:off x="6400800" y="2103120"/>
            <a:ext cx="4846320" cy="3108960"/>
          </a:xfrm>
          <a:prstGeom prst="rect">
            <a:avLst/>
          </a:prstGeom>
          <a:noFill/>
        </p:spPr>
        <p:txBody>
          <a:bodyPr wrap="square">
            <a:spAutoFit/>
          </a:bodyPr>
          <a:lstStyle/>
          <a:p>
            <a:pPr>
              <a:defRPr sz="1200" b="1"/>
            </a:pPr>
            <a:r>
              <a:t>• Định dạng kết quả đầu ra:</a:t>
            </a:r>
          </a:p>
          <a:p>
            <a:pPr>
              <a:defRPr sz="1100">
                <a:solidFill>
                  <a:srgbClr val="475569"/>
                </a:solidFill>
              </a:defRPr>
            </a:pPr>
            <a:r>
              <a:t>Nhãn cảm xúc dự đoán thuộc 1 trong 7 nhóm cảm xúc chuẩn kèm vector xác suất phân phối (% Confidence Score).</a:t>
            </a:r>
            <a:br/>
            <a:endParaRPr/>
          </a:p>
          <a:p>
            <a:pPr>
              <a:defRPr sz="1100" b="1"/>
            </a:pPr>
            <a:r>
              <a:t>• Không gian 7 nhãn phân loại:</a:t>
            </a:r>
            <a:br/>
            <a:r>
              <a:t>  Enjoyment | Disgust | Anger | Sadness | Fear | Surprise | Other</a:t>
            </a:r>
          </a:p>
          <a:p>
            <a:br/>
            <a:r>
              <a:t>• Ví dụ Output dự đoán:</a:t>
            </a:r>
            <a:br/>
            <a:r>
              <a:t>  Nhãn dự đoán: Disgust (Ghê tởm / Khó chịu)</a:t>
            </a:r>
            <a:br/>
            <a:r>
              <a:t>  Độ tin cậy: 93.8% (Disgust), 4.2% (Anger), 2.0% (Other)</a:t>
            </a:r>
          </a:p>
        </p:txBody>
      </p:sp>
      <p:sp>
        <p:nvSpPr>
          <p:cNvPr id="11" name="Rounded Rectangle 10"/>
          <p:cNvSpPr/>
          <p:nvPr/>
        </p:nvSpPr>
        <p:spPr>
          <a:xfrm>
            <a:off x="731520" y="5577840"/>
            <a:ext cx="10698480" cy="868680"/>
          </a:xfrm>
          <a:prstGeom prst="roundRect">
            <a:avLst/>
          </a:prstGeom>
          <a:solidFill>
            <a:srgbClr val="EFF6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5669280"/>
            <a:ext cx="10332720" cy="685800"/>
          </a:xfrm>
          <a:prstGeom prst="rect">
            <a:avLst/>
          </a:prstGeom>
          <a:noFill/>
        </p:spPr>
        <p:txBody>
          <a:bodyPr wrap="square">
            <a:spAutoFit/>
          </a:bodyPr>
          <a:lstStyle/>
          <a:p>
            <a:r>
              <a:rPr sz="1100" b="1">
                <a:solidFill>
                  <a:srgbClr val="2563EB"/>
                </a:solidFill>
              </a:rPr>
              <a:t>YÊU CẦU KỸ THUẬT ĐỐI VỚI HỆ THỐNG: </a:t>
            </a:r>
            <a:r>
              <a:rPr sz="1050">
                <a:solidFill>
                  <a:srgbClr val="0F172A"/>
                </a:solidFill>
              </a:rPr>
              <a:t>Thời gian suy luận (Inference Latency) cực thấp dưới 50ms cho mỗi câu; mô hình tối ưu bộ nhớ RAM để sẵn sàng phục vụ triển khai thực tế trên CPU thông thường.</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P spid="11" grpId="0" animBg="1"/>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r>
              <a:rPr sz="2000" b="1">
                <a:solidFill>
                  <a:srgbClr val="2563EB"/>
                </a:solidFill>
                <a:latin typeface="Segoe UI"/>
              </a:rPr>
              <a:t>04. </a:t>
            </a:r>
            <a:r>
              <a:rPr sz="2000" b="1">
                <a:solidFill>
                  <a:srgbClr val="0F172A"/>
                </a:solidFill>
                <a:latin typeface="Segoe UI"/>
              </a:rPr>
              <a:t>KHẢO SÁT TẬP DỮ LIỆU CHUẨN HỌC THUẬT: UIT-VSMEC</a:t>
            </a:r>
          </a:p>
        </p:txBody>
      </p:sp>
      <p:sp>
        <p:nvSpPr>
          <p:cNvPr id="4" name="Rectangle 3"/>
          <p:cNvSpPr/>
          <p:nvPr/>
        </p:nvSpPr>
        <p:spPr>
          <a:xfrm>
            <a:off x="731520" y="1188720"/>
            <a:ext cx="1072865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10728655" cy="10972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10362895" cy="457200"/>
          </a:xfrm>
          <a:prstGeom prst="rect">
            <a:avLst/>
          </a:prstGeom>
          <a:noFill/>
        </p:spPr>
        <p:txBody>
          <a:bodyPr wrap="square" lIns="0" tIns="0" rIns="0" bIns="0">
            <a:spAutoFit/>
          </a:bodyPr>
          <a:lstStyle/>
          <a:p>
            <a:r>
              <a:rPr sz="1300" b="1">
                <a:solidFill>
                  <a:srgbClr val="2563EB"/>
                </a:solidFill>
                <a:latin typeface="Segoe UI"/>
              </a:rPr>
              <a:t>GIỚI THIỆU BỘ DỮ LIỆU UIT-VSMEC</a:t>
            </a:r>
            <a:r>
              <a:rPr sz="1000" b="1">
                <a:solidFill>
                  <a:srgbClr val="06B6D4"/>
                </a:solidFill>
                <a:latin typeface="Segoe UI"/>
              </a:rPr>
              <a:t>  [CHUẨN ĐÁNH GIÁ NLP TIẾNG VIỆT]</a:t>
            </a:r>
          </a:p>
        </p:txBody>
      </p:sp>
      <p:sp>
        <p:nvSpPr>
          <p:cNvPr id="7" name="TextBox 6"/>
          <p:cNvSpPr txBox="1"/>
          <p:nvPr/>
        </p:nvSpPr>
        <p:spPr>
          <a:xfrm>
            <a:off x="914400" y="1920240"/>
            <a:ext cx="10362895" cy="594360"/>
          </a:xfrm>
          <a:prstGeom prst="rect">
            <a:avLst/>
          </a:prstGeom>
          <a:noFill/>
        </p:spPr>
        <p:txBody>
          <a:bodyPr wrap="square">
            <a:spAutoFit/>
          </a:bodyPr>
          <a:lstStyle/>
          <a:p>
            <a:pPr>
              <a:defRPr sz="1100">
                <a:solidFill>
                  <a:srgbClr val="475569"/>
                </a:solidFill>
              </a:defRPr>
            </a:pPr>
            <a:r>
              <a:t>• UIT-VSMEC (Vietnamese Social Media Emotion Corpus) là bộ dữ liệu chuẩn do nhóm nghiên cứu thuộc Đại học Quốc gia TP.HCM công bố, chuyên phục vụ nghiên cứu nhận diện cảm xúc trên văn bản mạng xã hội tiếng Việt.</a:t>
            </a:r>
          </a:p>
        </p:txBody>
      </p:sp>
      <p:sp>
        <p:nvSpPr>
          <p:cNvPr id="8" name="Rounded Rectangle 7"/>
          <p:cNvSpPr/>
          <p:nvPr/>
        </p:nvSpPr>
        <p:spPr>
          <a:xfrm>
            <a:off x="731520" y="2743200"/>
            <a:ext cx="3413455"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14400" y="2880360"/>
            <a:ext cx="3047695" cy="457200"/>
          </a:xfrm>
          <a:prstGeom prst="rect">
            <a:avLst/>
          </a:prstGeom>
          <a:noFill/>
        </p:spPr>
        <p:txBody>
          <a:bodyPr wrap="square" lIns="0" tIns="0" rIns="0" bIns="0">
            <a:spAutoFit/>
          </a:bodyPr>
          <a:lstStyle/>
          <a:p>
            <a:r>
              <a:rPr sz="1300" b="1">
                <a:solidFill>
                  <a:srgbClr val="2563EB"/>
                </a:solidFill>
                <a:latin typeface="Segoe UI"/>
              </a:rPr>
              <a:t>QUY MÔ MẪU</a:t>
            </a:r>
            <a:r>
              <a:rPr sz="1000" b="1">
                <a:solidFill>
                  <a:srgbClr val="06B6D4"/>
                </a:solidFill>
                <a:latin typeface="Segoe UI"/>
              </a:rPr>
              <a:t>  [~22.000 CÂU]</a:t>
            </a:r>
          </a:p>
        </p:txBody>
      </p:sp>
      <p:sp>
        <p:nvSpPr>
          <p:cNvPr id="10" name="TextBox 9"/>
          <p:cNvSpPr txBox="1"/>
          <p:nvPr/>
        </p:nvSpPr>
        <p:spPr>
          <a:xfrm>
            <a:off x="914400" y="3291840"/>
            <a:ext cx="3047695" cy="1371600"/>
          </a:xfrm>
          <a:prstGeom prst="rect">
            <a:avLst/>
          </a:prstGeom>
          <a:noFill/>
        </p:spPr>
        <p:txBody>
          <a:bodyPr wrap="square">
            <a:spAutoFit/>
          </a:bodyPr>
          <a:lstStyle/>
          <a:p>
            <a:pPr>
              <a:defRPr sz="1050"/>
            </a:pPr>
            <a:r>
              <a:t>• Tập Train: ~15.800 câu (70%)</a:t>
            </a:r>
            <a:br/>
            <a:r>
              <a:t>• Tập Validation: ~2.000 câu (15%)</a:t>
            </a:r>
            <a:br/>
            <a:r>
              <a:t>• Tập Test: ~2.000 câu (15%)</a:t>
            </a:r>
            <a:br/>
            <a:r>
              <a:t>-&gt; Đã được chuẩn hóa chia sẵn, giúp kiểm thử khách quan.</a:t>
            </a:r>
          </a:p>
        </p:txBody>
      </p:sp>
      <p:sp>
        <p:nvSpPr>
          <p:cNvPr id="11" name="Rounded Rectangle 10"/>
          <p:cNvSpPr/>
          <p:nvPr/>
        </p:nvSpPr>
        <p:spPr>
          <a:xfrm>
            <a:off x="4389120" y="2743200"/>
            <a:ext cx="7071055" cy="20116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2880360"/>
            <a:ext cx="6705295" cy="457200"/>
          </a:xfrm>
          <a:prstGeom prst="rect">
            <a:avLst/>
          </a:prstGeom>
          <a:noFill/>
        </p:spPr>
        <p:txBody>
          <a:bodyPr wrap="square" lIns="0" tIns="0" rIns="0" bIns="0">
            <a:spAutoFit/>
          </a:bodyPr>
          <a:lstStyle/>
          <a:p>
            <a:r>
              <a:rPr sz="1300" b="1">
                <a:solidFill>
                  <a:srgbClr val="2563EB"/>
                </a:solidFill>
                <a:latin typeface="Segoe UI"/>
              </a:rPr>
              <a:t>7 LỚP CẢM XÚC CHUẨN ĐƯỢC GÁN NHÃN</a:t>
            </a:r>
            <a:r>
              <a:rPr sz="1000" b="1">
                <a:solidFill>
                  <a:srgbClr val="06B6D4"/>
                </a:solidFill>
                <a:latin typeface="Segoe UI"/>
              </a:rPr>
              <a:t>  [MULTI-CLASS]</a:t>
            </a:r>
          </a:p>
        </p:txBody>
      </p:sp>
      <p:sp>
        <p:nvSpPr>
          <p:cNvPr id="13" name="TextBox 12"/>
          <p:cNvSpPr txBox="1"/>
          <p:nvPr/>
        </p:nvSpPr>
        <p:spPr>
          <a:xfrm>
            <a:off x="4572000" y="3291840"/>
            <a:ext cx="6705295" cy="1371600"/>
          </a:xfrm>
          <a:prstGeom prst="rect">
            <a:avLst/>
          </a:prstGeom>
          <a:noFill/>
        </p:spPr>
        <p:txBody>
          <a:bodyPr wrap="square">
            <a:spAutoFit/>
          </a:bodyPr>
          <a:lstStyle/>
          <a:p>
            <a:pPr>
              <a:defRPr sz="950">
                <a:solidFill>
                  <a:srgbClr val="0F172A"/>
                </a:solidFill>
              </a:defRPr>
            </a:pPr>
            <a:r>
              <a:t>1. Enjoyment (Thích thú / Vui vẻ): Khen ngợi, thỏa mãn, phấn khích.</a:t>
            </a:r>
            <a:br/>
            <a:r>
              <a:t>2. Disgust (Ghê tởm / Khó chịu): Chê bai cay gắt, phản cảm, thất vọng.</a:t>
            </a:r>
            <a:br/>
            <a:r>
              <a:t>3. Anger (Tức giận): Bực bội, bức xúc dịch vụ, công kích.</a:t>
            </a:r>
            <a:br/>
            <a:r>
              <a:t>4. Sadness (Buồn bã): Nuối tiếc, đồng cảm, buồn phiền.</a:t>
            </a:r>
            <a:br/>
            <a:r>
              <a:t>5. Fear (Sợ hãi / Lo lắng): E ngại rủi ro, lo âu.</a:t>
            </a:r>
            <a:br/>
            <a:r>
              <a:t>6. Surprise (Bất ngờ / Ngạc nhiên): Sửng sốt trước sự việc.</a:t>
            </a:r>
            <a:br/>
            <a:r>
              <a:t>7. Other (Khác): Nhận xét trung tính, hỏi thông tin, chia sẻ thông thường.</a:t>
            </a:r>
          </a:p>
        </p:txBody>
      </p:sp>
      <p:sp>
        <p:nvSpPr>
          <p:cNvPr id="14" name="Rounded Rectangle 13"/>
          <p:cNvSpPr/>
          <p:nvPr/>
        </p:nvSpPr>
        <p:spPr>
          <a:xfrm>
            <a:off x="731520" y="4937760"/>
            <a:ext cx="10728655"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074920"/>
            <a:ext cx="10362895" cy="457200"/>
          </a:xfrm>
          <a:prstGeom prst="rect">
            <a:avLst/>
          </a:prstGeom>
          <a:noFill/>
        </p:spPr>
        <p:txBody>
          <a:bodyPr wrap="square" lIns="0" tIns="0" rIns="0" bIns="0">
            <a:spAutoFit/>
          </a:bodyPr>
          <a:lstStyle/>
          <a:p>
            <a:r>
              <a:rPr sz="1300" b="1">
                <a:solidFill>
                  <a:srgbClr val="2563EB"/>
                </a:solidFill>
                <a:latin typeface="Segoe UI"/>
              </a:rPr>
              <a:t>CẤU TRÚC LƯU TRỮ TRONG DỰ ÁN</a:t>
            </a:r>
            <a:r>
              <a:rPr sz="1000" b="1">
                <a:solidFill>
                  <a:srgbClr val="06B6D4"/>
                </a:solidFill>
                <a:latin typeface="Segoe UI"/>
              </a:rPr>
              <a:t>  [JSON FORMAT]</a:t>
            </a:r>
          </a:p>
        </p:txBody>
      </p:sp>
      <p:sp>
        <p:nvSpPr>
          <p:cNvPr id="16" name="TextBox 15"/>
          <p:cNvSpPr txBox="1"/>
          <p:nvPr/>
        </p:nvSpPr>
        <p:spPr>
          <a:xfrm>
            <a:off x="914400" y="5394960"/>
            <a:ext cx="10362895" cy="914400"/>
          </a:xfrm>
          <a:prstGeom prst="rect">
            <a:avLst/>
          </a:prstGeom>
          <a:noFill/>
        </p:spPr>
        <p:txBody>
          <a:bodyPr wrap="square">
            <a:spAutoFit/>
          </a:bodyPr>
          <a:lstStyle/>
          <a:p>
            <a:pPr>
              <a:defRPr sz="1000">
                <a:solidFill>
                  <a:srgbClr val="475569"/>
                </a:solidFill>
              </a:defRPr>
            </a:pPr>
            <a:r>
              <a:t>Định dạng JSON đơn giản, minh bạch: [ {"Sentence": "cho mình xin bài nhạc tên là gì với ạ", "Emotion": "Other"}, {"Sentence": "đồ ăn dở tệ phục vụ bực mình", "Emotion": "Anger"} ]</a:t>
            </a:r>
            <a:br/>
            <a:r>
              <a:t>-&gt; Dễ dàng nạp vào thư viện Pandas và xây dựng DataLoader phục vụ huấn luyện.</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P spid="11" grpId="0" animBg="1"/>
      <p:bldP spid="12" grpId="0"/>
      <p:bldP spid="13" grpId="0"/>
      <p:bldP spid="14" grpId="0" animBg="1"/>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r>
              <a:rPr sz="2000" b="1">
                <a:solidFill>
                  <a:srgbClr val="2563EB"/>
                </a:solidFill>
                <a:latin typeface="Segoe UI"/>
              </a:rPr>
              <a:t>05. </a:t>
            </a:r>
            <a:r>
              <a:rPr sz="2000" b="1">
                <a:solidFill>
                  <a:srgbClr val="0F172A"/>
                </a:solidFill>
                <a:latin typeface="Segoe UI"/>
              </a:rPr>
              <a:t>PHÂN TÍCH KHÁM PHÁ DỮ LIỆU (EXPLORATORY DATA ANALYSIS)</a:t>
            </a:r>
          </a:p>
        </p:txBody>
      </p:sp>
      <p:sp>
        <p:nvSpPr>
          <p:cNvPr id="4" name="Rectangle 3"/>
          <p:cNvSpPr/>
          <p:nvPr/>
        </p:nvSpPr>
        <p:spPr>
          <a:xfrm>
            <a:off x="731520" y="1188720"/>
            <a:ext cx="1072865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34134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3047695" cy="457200"/>
          </a:xfrm>
          <a:prstGeom prst="rect">
            <a:avLst/>
          </a:prstGeom>
          <a:noFill/>
        </p:spPr>
        <p:txBody>
          <a:bodyPr wrap="square" lIns="0" tIns="0" rIns="0" bIns="0">
            <a:spAutoFit/>
          </a:bodyPr>
          <a:lstStyle/>
          <a:p>
            <a:r>
              <a:rPr sz="1300" b="1">
                <a:solidFill>
                  <a:srgbClr val="2563EB"/>
                </a:solidFill>
                <a:latin typeface="Segoe UI"/>
              </a:rPr>
              <a:t>Hiện Tượng Imbalanced Data</a:t>
            </a:r>
            <a:r>
              <a:rPr sz="1000" b="1">
                <a:solidFill>
                  <a:srgbClr val="06B6D4"/>
                </a:solidFill>
                <a:latin typeface="Segoe UI"/>
              </a:rPr>
              <a:t>  [MẤT CÂN BẰNG DỮ LIỆU]</a:t>
            </a:r>
          </a:p>
        </p:txBody>
      </p:sp>
      <p:sp>
        <p:nvSpPr>
          <p:cNvPr id="7" name="TextBox 6"/>
          <p:cNvSpPr txBox="1"/>
          <p:nvPr/>
        </p:nvSpPr>
        <p:spPr>
          <a:xfrm>
            <a:off x="914400" y="2103120"/>
            <a:ext cx="3047695" cy="4023360"/>
          </a:xfrm>
          <a:prstGeom prst="rect">
            <a:avLst/>
          </a:prstGeom>
          <a:noFill/>
        </p:spPr>
        <p:txBody>
          <a:bodyPr wrap="square">
            <a:spAutoFit/>
          </a:bodyPr>
          <a:lstStyle/>
          <a:p>
            <a:pPr>
              <a:defRPr sz="1050">
                <a:solidFill>
                  <a:srgbClr val="475569"/>
                </a:solidFill>
              </a:defRPr>
            </a:pPr>
            <a:r>
              <a:t>• Nhóm chiếm ưu thế áp đảo:</a:t>
            </a:r>
            <a:br/>
            <a:r>
              <a:t>  - Other (~30%) &amp; Enjoyment (~35%)</a:t>
            </a:r>
            <a:br/>
            <a:r>
              <a:t>• Nhóm chiếm tỷ lệ cực thấp:</a:t>
            </a:r>
            <a:br/>
            <a:r>
              <a:t>  - Fear (~4%) &amp; Surprise (~5%)</a:t>
            </a:r>
            <a:br/>
            <a:r>
              <a:t>• Thách thức học máy:</a:t>
            </a:r>
            <a:br/>
            <a:r>
              <a:t>  Mô hình rất dễ bị thiên lệch (bias) về các lớp đa số nếu không có chiến lược đánh giá chuẩn xác.</a:t>
            </a:r>
          </a:p>
        </p:txBody>
      </p:sp>
      <p:sp>
        <p:nvSpPr>
          <p:cNvPr id="8" name="Rounded Rectangle 7"/>
          <p:cNvSpPr/>
          <p:nvPr/>
        </p:nvSpPr>
        <p:spPr>
          <a:xfrm>
            <a:off x="4389120" y="1463040"/>
            <a:ext cx="34134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600200"/>
            <a:ext cx="3047695" cy="457200"/>
          </a:xfrm>
          <a:prstGeom prst="rect">
            <a:avLst/>
          </a:prstGeom>
          <a:noFill/>
        </p:spPr>
        <p:txBody>
          <a:bodyPr wrap="square" lIns="0" tIns="0" rIns="0" bIns="0">
            <a:spAutoFit/>
          </a:bodyPr>
          <a:lstStyle/>
          <a:p>
            <a:r>
              <a:rPr sz="1300" b="1">
                <a:solidFill>
                  <a:srgbClr val="2563EB"/>
                </a:solidFill>
                <a:latin typeface="Segoe UI"/>
              </a:rPr>
              <a:t>Phân Bố Độ Dài Văn Bản</a:t>
            </a:r>
            <a:r>
              <a:rPr sz="1000" b="1">
                <a:solidFill>
                  <a:srgbClr val="06B6D4"/>
                </a:solidFill>
                <a:latin typeface="Segoe UI"/>
              </a:rPr>
              <a:t>  [ĐẶC TRƯNG ĐỘ DÀI CÂU]</a:t>
            </a:r>
          </a:p>
        </p:txBody>
      </p:sp>
      <p:sp>
        <p:nvSpPr>
          <p:cNvPr id="10" name="TextBox 9"/>
          <p:cNvSpPr txBox="1"/>
          <p:nvPr/>
        </p:nvSpPr>
        <p:spPr>
          <a:xfrm>
            <a:off x="4572000" y="2103120"/>
            <a:ext cx="3047695" cy="4023360"/>
          </a:xfrm>
          <a:prstGeom prst="rect">
            <a:avLst/>
          </a:prstGeom>
          <a:noFill/>
        </p:spPr>
        <p:txBody>
          <a:bodyPr wrap="square">
            <a:spAutoFit/>
          </a:bodyPr>
          <a:lstStyle/>
          <a:p>
            <a:pPr>
              <a:defRPr sz="1050">
                <a:solidFill>
                  <a:srgbClr val="475569"/>
                </a:solidFill>
              </a:defRPr>
            </a:pPr>
            <a:r>
              <a:t>• Văn bản cực ngắn (Short Text):</a:t>
            </a:r>
            <a:br/>
            <a:r>
              <a:t>  - Độ dài trung bình: 10 - 25 từ/câu.</a:t>
            </a:r>
            <a:br/>
            <a:r>
              <a:t>  - Nhiều câu cụt ngữ pháp: 'dở quá', 'đẹp ghê :))'</a:t>
            </a:r>
            <a:br/>
            <a:r>
              <a:t>• Thách thức trích xuất đặc trưng:</a:t>
            </a:r>
            <a:br/>
            <a:r>
              <a:t>  Số lượng từ vựng trong mỗi câu ít khiến ma trận từ vựng rất thưa, đòi hỏi kỹ thuật TF-IDF hiệu quả.</a:t>
            </a:r>
          </a:p>
        </p:txBody>
      </p:sp>
      <p:sp>
        <p:nvSpPr>
          <p:cNvPr id="11" name="Rounded Rectangle 10"/>
          <p:cNvSpPr/>
          <p:nvPr/>
        </p:nvSpPr>
        <p:spPr>
          <a:xfrm>
            <a:off x="8046720" y="1463040"/>
            <a:ext cx="34134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1600200"/>
            <a:ext cx="3047695" cy="457200"/>
          </a:xfrm>
          <a:prstGeom prst="rect">
            <a:avLst/>
          </a:prstGeom>
          <a:noFill/>
        </p:spPr>
        <p:txBody>
          <a:bodyPr wrap="square" lIns="0" tIns="0" rIns="0" bIns="0">
            <a:spAutoFit/>
          </a:bodyPr>
          <a:lstStyle/>
          <a:p>
            <a:r>
              <a:rPr sz="1300" b="1">
                <a:solidFill>
                  <a:srgbClr val="2563EB"/>
                </a:solidFill>
                <a:latin typeface="Segoe UI"/>
              </a:rPr>
              <a:t>Định Hướng Mô Hình Hóa</a:t>
            </a:r>
            <a:r>
              <a:rPr sz="1000" b="1">
                <a:solidFill>
                  <a:srgbClr val="06B6D4"/>
                </a:solidFill>
                <a:latin typeface="Segoe UI"/>
              </a:rPr>
              <a:t>  [BÀI HỌC KỸ THUẬT]</a:t>
            </a:r>
          </a:p>
        </p:txBody>
      </p:sp>
      <p:sp>
        <p:nvSpPr>
          <p:cNvPr id="13" name="TextBox 12"/>
          <p:cNvSpPr txBox="1"/>
          <p:nvPr/>
        </p:nvSpPr>
        <p:spPr>
          <a:xfrm>
            <a:off x="8229600" y="2103120"/>
            <a:ext cx="3047695" cy="4023360"/>
          </a:xfrm>
          <a:prstGeom prst="rect">
            <a:avLst/>
          </a:prstGeom>
          <a:noFill/>
        </p:spPr>
        <p:txBody>
          <a:bodyPr wrap="square">
            <a:spAutoFit/>
          </a:bodyPr>
          <a:lstStyle/>
          <a:p>
            <a:pPr>
              <a:defRPr sz="1050">
                <a:solidFill>
                  <a:srgbClr val="475569"/>
                </a:solidFill>
              </a:defRPr>
            </a:pPr>
            <a:r>
              <a:t>1. Không dùng Accuracy đơn thuần:</a:t>
            </a:r>
            <a:br/>
            <a:r>
              <a:t>   Độ chính xác tổng thể dễ gây 'ảo tưởng' (đoán toàn Other vẫn đạt 70%).</a:t>
            </a:r>
            <a:br/>
            <a:r>
              <a:t>2. Bắt buộc dùng Macro-F1:</a:t>
            </a:r>
            <a:br/>
            <a:r>
              <a:t>   Đo trung bình không trọng số của 7 nhãn.</a:t>
            </a:r>
            <a:br/>
            <a:r>
              <a:t>3. Áp dụng Stratified K-Fold:</a:t>
            </a:r>
            <a:br/>
            <a:r>
              <a:t>   Giữ nguyên tỷ lệ các nhãn giữa các tập chia.</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P spid="11" grpId="0" animBg="1"/>
      <p:bldP spid="12" grpId="0"/>
      <p:bldP spid="1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r>
              <a:rPr sz="2000" b="1">
                <a:solidFill>
                  <a:srgbClr val="2563EB"/>
                </a:solidFill>
                <a:latin typeface="Segoe UI"/>
              </a:rPr>
              <a:t>06. </a:t>
            </a:r>
            <a:r>
              <a:rPr sz="2000" b="1">
                <a:solidFill>
                  <a:srgbClr val="0F172A"/>
                </a:solidFill>
                <a:latin typeface="Segoe UI"/>
              </a:rPr>
              <a:t>QUY TRÌNH TIỀN XỬ LÝ DỮ LIỆU CHI TIẾT (DATA PREPROCESSING)</a:t>
            </a:r>
          </a:p>
        </p:txBody>
      </p:sp>
      <p:sp>
        <p:nvSpPr>
          <p:cNvPr id="4" name="Rectangle 3"/>
          <p:cNvSpPr/>
          <p:nvPr/>
        </p:nvSpPr>
        <p:spPr>
          <a:xfrm>
            <a:off x="731520" y="1188720"/>
            <a:ext cx="1072865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5242255"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4876495" cy="457200"/>
          </a:xfrm>
          <a:prstGeom prst="rect">
            <a:avLst/>
          </a:prstGeom>
          <a:noFill/>
        </p:spPr>
        <p:txBody>
          <a:bodyPr wrap="square" lIns="0" tIns="0" rIns="0" bIns="0">
            <a:spAutoFit/>
          </a:bodyPr>
          <a:lstStyle/>
          <a:p>
            <a:r>
              <a:rPr sz="1300" b="1">
                <a:solidFill>
                  <a:srgbClr val="2563EB"/>
                </a:solidFill>
                <a:latin typeface="Segoe UI"/>
              </a:rPr>
              <a:t>Chữ thường &amp; Unicode</a:t>
            </a:r>
            <a:r>
              <a:rPr sz="1000" b="1">
                <a:solidFill>
                  <a:srgbClr val="06B6D4"/>
                </a:solidFill>
                <a:latin typeface="Segoe UI"/>
              </a:rPr>
              <a:t>  [BƯỚC 1: CHUẨN HÓA CƠ BẢN]</a:t>
            </a:r>
          </a:p>
        </p:txBody>
      </p:sp>
      <p:sp>
        <p:nvSpPr>
          <p:cNvPr id="7" name="TextBox 6"/>
          <p:cNvSpPr txBox="1"/>
          <p:nvPr/>
        </p:nvSpPr>
        <p:spPr>
          <a:xfrm>
            <a:off x="914400" y="2011680"/>
            <a:ext cx="4876495" cy="1645920"/>
          </a:xfrm>
          <a:prstGeom prst="rect">
            <a:avLst/>
          </a:prstGeom>
          <a:noFill/>
        </p:spPr>
        <p:txBody>
          <a:bodyPr wrap="square">
            <a:spAutoFit/>
          </a:bodyPr>
          <a:lstStyle/>
          <a:p>
            <a:pPr>
              <a:defRPr sz="1050">
                <a:solidFill>
                  <a:srgbClr val="475569"/>
                </a:solidFill>
              </a:defRPr>
            </a:pPr>
            <a:r>
              <a:t>• Chuyển 100% văn bản về chữ thường (lowercase).</a:t>
            </a:r>
            <a:br/>
            <a:r>
              <a:t>• Chuẩn hóa bảng mã tiếng Việt về Unicode dựng sẵn (NFC), tránh lỗi gõ dấu tổ hợp.</a:t>
            </a:r>
          </a:p>
        </p:txBody>
      </p:sp>
      <p:sp>
        <p:nvSpPr>
          <p:cNvPr id="8" name="Rounded Rectangle 7"/>
          <p:cNvSpPr/>
          <p:nvPr/>
        </p:nvSpPr>
        <p:spPr>
          <a:xfrm>
            <a:off x="6217920" y="1463040"/>
            <a:ext cx="5242255"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00200"/>
            <a:ext cx="4876495" cy="457200"/>
          </a:xfrm>
          <a:prstGeom prst="rect">
            <a:avLst/>
          </a:prstGeom>
          <a:noFill/>
        </p:spPr>
        <p:txBody>
          <a:bodyPr wrap="square" lIns="0" tIns="0" rIns="0" bIns="0">
            <a:spAutoFit/>
          </a:bodyPr>
          <a:lstStyle/>
          <a:p>
            <a:r>
              <a:rPr sz="1300" b="1">
                <a:solidFill>
                  <a:srgbClr val="2563EB"/>
                </a:solidFill>
                <a:latin typeface="Segoe UI"/>
              </a:rPr>
              <a:t>Loại Bỏ Ký Tự Rác</a:t>
            </a:r>
            <a:r>
              <a:rPr sz="1000" b="1">
                <a:solidFill>
                  <a:srgbClr val="06B6D4"/>
                </a:solidFill>
                <a:latin typeface="Segoe UI"/>
              </a:rPr>
              <a:t>  [BƯỚC 2: LỌC NHIỄU REGEX]</a:t>
            </a:r>
          </a:p>
        </p:txBody>
      </p:sp>
      <p:sp>
        <p:nvSpPr>
          <p:cNvPr id="10" name="TextBox 9"/>
          <p:cNvSpPr txBox="1"/>
          <p:nvPr/>
        </p:nvSpPr>
        <p:spPr>
          <a:xfrm>
            <a:off x="6400800" y="2011680"/>
            <a:ext cx="4876495" cy="1645920"/>
          </a:xfrm>
          <a:prstGeom prst="rect">
            <a:avLst/>
          </a:prstGeom>
          <a:noFill/>
        </p:spPr>
        <p:txBody>
          <a:bodyPr wrap="square">
            <a:spAutoFit/>
          </a:bodyPr>
          <a:lstStyle/>
          <a:p>
            <a:pPr>
              <a:defRPr sz="1050">
                <a:solidFill>
                  <a:srgbClr val="475569"/>
                </a:solidFill>
              </a:defRPr>
            </a:pPr>
            <a:r>
              <a:t>• Xóa đường link URLs (http, www), email, thẻ HTML.</a:t>
            </a:r>
            <a:br/>
            <a:r>
              <a:t>• Xóa ký tự đặc biệt vô nghĩa (@, #, $, %, *...).</a:t>
            </a:r>
            <a:br/>
            <a:r>
              <a:t>• Chuẩn hóa ký tự kéo dài (ví dụ: 'ngonnn' -&gt; 'ngon').</a:t>
            </a:r>
          </a:p>
        </p:txBody>
      </p:sp>
      <p:sp>
        <p:nvSpPr>
          <p:cNvPr id="11" name="Rounded Rectangle 10"/>
          <p:cNvSpPr/>
          <p:nvPr/>
        </p:nvSpPr>
        <p:spPr>
          <a:xfrm>
            <a:off x="731520" y="3931920"/>
            <a:ext cx="5242255"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4069080"/>
            <a:ext cx="4876495" cy="457200"/>
          </a:xfrm>
          <a:prstGeom prst="rect">
            <a:avLst/>
          </a:prstGeom>
          <a:noFill/>
        </p:spPr>
        <p:txBody>
          <a:bodyPr wrap="square" lIns="0" tIns="0" rIns="0" bIns="0">
            <a:spAutoFit/>
          </a:bodyPr>
          <a:lstStyle/>
          <a:p>
            <a:r>
              <a:rPr sz="1300" b="1">
                <a:solidFill>
                  <a:srgbClr val="2563EB"/>
                </a:solidFill>
                <a:latin typeface="Segoe UI"/>
              </a:rPr>
              <a:t>Từ Điển 50+ Từ Viết Tắt</a:t>
            </a:r>
            <a:r>
              <a:rPr sz="1000" b="1">
                <a:solidFill>
                  <a:srgbClr val="06B6D4"/>
                </a:solidFill>
                <a:latin typeface="Segoe UI"/>
              </a:rPr>
              <a:t>  [BƯỚC 3: XỬ LÝ TEENCODE]</a:t>
            </a:r>
          </a:p>
        </p:txBody>
      </p:sp>
      <p:sp>
        <p:nvSpPr>
          <p:cNvPr id="13" name="TextBox 12"/>
          <p:cNvSpPr txBox="1"/>
          <p:nvPr/>
        </p:nvSpPr>
        <p:spPr>
          <a:xfrm>
            <a:off x="914400" y="4480560"/>
            <a:ext cx="4876495" cy="1645920"/>
          </a:xfrm>
          <a:prstGeom prst="rect">
            <a:avLst/>
          </a:prstGeom>
          <a:noFill/>
        </p:spPr>
        <p:txBody>
          <a:bodyPr wrap="square">
            <a:spAutoFit/>
          </a:bodyPr>
          <a:lstStyle/>
          <a:p>
            <a:pPr>
              <a:defRPr sz="1050">
                <a:solidFill>
                  <a:srgbClr val="475569"/>
                </a:solidFill>
              </a:defRPr>
            </a:pPr>
            <a:r>
              <a:t>• Xây dựng bộ từ điển chuẩn hóa tiếng lóng:</a:t>
            </a:r>
            <a:br/>
            <a:r>
              <a:t>  - 'ko', 'k', 'khum' -&gt; 'không'</a:t>
            </a:r>
            <a:br/>
            <a:r>
              <a:t>  - 'dc', 'đc' -&gt; 'được'; 'vs' -&gt; 'với'</a:t>
            </a:r>
            <a:br/>
            <a:r>
              <a:t>  - 'mik' -&gt; 'mình'; 'lm' -&gt; 'làm'</a:t>
            </a:r>
          </a:p>
        </p:txBody>
      </p:sp>
      <p:sp>
        <p:nvSpPr>
          <p:cNvPr id="14" name="Rounded Rectangle 13"/>
          <p:cNvSpPr/>
          <p:nvPr/>
        </p:nvSpPr>
        <p:spPr>
          <a:xfrm>
            <a:off x="6217920" y="3931920"/>
            <a:ext cx="5242255" cy="228600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4069080"/>
            <a:ext cx="4876495" cy="457200"/>
          </a:xfrm>
          <a:prstGeom prst="rect">
            <a:avLst/>
          </a:prstGeom>
          <a:noFill/>
        </p:spPr>
        <p:txBody>
          <a:bodyPr wrap="square" lIns="0" tIns="0" rIns="0" bIns="0">
            <a:spAutoFit/>
          </a:bodyPr>
          <a:lstStyle/>
          <a:p>
            <a:r>
              <a:rPr sz="1300" b="1">
                <a:solidFill>
                  <a:srgbClr val="2563EB"/>
                </a:solidFill>
                <a:latin typeface="Segoe UI"/>
              </a:rPr>
              <a:t>Biểu Tượng Cảm Xúc</a:t>
            </a:r>
            <a:r>
              <a:rPr sz="1000" b="1">
                <a:solidFill>
                  <a:srgbClr val="06B6D4"/>
                </a:solidFill>
                <a:latin typeface="Segoe UI"/>
              </a:rPr>
              <a:t>  [BƯỚC 4: XỬ LÝ EMOJI]</a:t>
            </a:r>
          </a:p>
        </p:txBody>
      </p:sp>
      <p:sp>
        <p:nvSpPr>
          <p:cNvPr id="16" name="TextBox 15"/>
          <p:cNvSpPr txBox="1"/>
          <p:nvPr/>
        </p:nvSpPr>
        <p:spPr>
          <a:xfrm>
            <a:off x="6400800" y="4480560"/>
            <a:ext cx="4876495" cy="1645920"/>
          </a:xfrm>
          <a:prstGeom prst="rect">
            <a:avLst/>
          </a:prstGeom>
          <a:noFill/>
        </p:spPr>
        <p:txBody>
          <a:bodyPr wrap="square">
            <a:spAutoFit/>
          </a:bodyPr>
          <a:lstStyle/>
          <a:p>
            <a:pPr>
              <a:defRPr sz="1050">
                <a:solidFill>
                  <a:srgbClr val="475569"/>
                </a:solidFill>
              </a:defRPr>
            </a:pPr>
            <a:r>
              <a:t>• Ánh xạ các icon phổ biến sang từ khóa:</a:t>
            </a:r>
            <a:br/>
            <a:r>
              <a:t>  - 😡 -&gt; 'tức giận'; ❤️ -&gt; 'yêu thích'</a:t>
            </a:r>
            <a:br/>
            <a:r>
              <a:t>  - :)) -&gt; 'vui vẻ'; :(( -&gt; 'buồn bã'</a:t>
            </a:r>
            <a:br/>
            <a:r>
              <a:t>• Loại bỏ các icon rác không mang giá trị biểu cảm.</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fade">
                                      <p:cBhvr>
                                        <p:cTn id="67"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P spid="11" grpId="0" animBg="1"/>
      <p:bldP spid="12" grpId="0"/>
      <p:bldP spid="13" grpId="0"/>
      <p:bldP spid="14" grpId="0" animBg="1"/>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r>
              <a:rPr sz="2000" b="1">
                <a:solidFill>
                  <a:srgbClr val="2563EB"/>
                </a:solidFill>
                <a:latin typeface="Segoe UI"/>
              </a:rPr>
              <a:t>07. </a:t>
            </a:r>
            <a:r>
              <a:rPr sz="2000" b="1">
                <a:solidFill>
                  <a:srgbClr val="0F172A"/>
                </a:solidFill>
                <a:latin typeface="Segoe UI"/>
              </a:rPr>
              <a:t>BIỂU DIỄN ĐẶC TRƯNG VĂN BẢN: BAG-OF-WORDS VS TF-IDF</a:t>
            </a:r>
          </a:p>
        </p:txBody>
      </p:sp>
      <p:sp>
        <p:nvSpPr>
          <p:cNvPr id="4" name="Rectangle 3"/>
          <p:cNvSpPr/>
          <p:nvPr/>
        </p:nvSpPr>
        <p:spPr>
          <a:xfrm>
            <a:off x="731520" y="1188720"/>
            <a:ext cx="1072865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5212080" cy="3291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4846320" cy="457200"/>
          </a:xfrm>
          <a:prstGeom prst="rect">
            <a:avLst/>
          </a:prstGeom>
          <a:noFill/>
        </p:spPr>
        <p:txBody>
          <a:bodyPr wrap="square" lIns="0" tIns="0" rIns="0" bIns="0">
            <a:spAutoFit/>
          </a:bodyPr>
          <a:lstStyle/>
          <a:p>
            <a:r>
              <a:rPr sz="1300" b="1">
                <a:solidFill>
                  <a:srgbClr val="2563EB"/>
                </a:solidFill>
                <a:latin typeface="Segoe UI"/>
              </a:rPr>
              <a:t>BAG-OF-WORDS (COUNT VECTORIZER)</a:t>
            </a:r>
            <a:r>
              <a:rPr sz="1000" b="1">
                <a:solidFill>
                  <a:srgbClr val="06B6D4"/>
                </a:solidFill>
                <a:latin typeface="Segoe UI"/>
              </a:rPr>
              <a:t>  [ĐẾM TẦN SUẤT ĐƠN THUẦN]</a:t>
            </a:r>
          </a:p>
        </p:txBody>
      </p:sp>
      <p:sp>
        <p:nvSpPr>
          <p:cNvPr id="7" name="TextBox 6"/>
          <p:cNvSpPr txBox="1"/>
          <p:nvPr/>
        </p:nvSpPr>
        <p:spPr>
          <a:xfrm>
            <a:off x="914400" y="2011680"/>
            <a:ext cx="4846320" cy="2560320"/>
          </a:xfrm>
          <a:prstGeom prst="rect">
            <a:avLst/>
          </a:prstGeom>
          <a:noFill/>
        </p:spPr>
        <p:txBody>
          <a:bodyPr wrap="square">
            <a:spAutoFit/>
          </a:bodyPr>
          <a:lstStyle/>
          <a:p>
            <a:pPr>
              <a:defRPr sz="1100">
                <a:solidFill>
                  <a:srgbClr val="475569"/>
                </a:solidFill>
              </a:defRPr>
            </a:pPr>
            <a:r>
              <a:t>• Cơ chế hoạt động: Đếm số lần mỗi từ xuất hiện trong câu.</a:t>
            </a:r>
            <a:br/>
            <a:br/>
            <a:r>
              <a:t>• Nhược điểm chí mạng trong NLP:</a:t>
            </a:r>
            <a:br/>
            <a:r>
              <a:t>  - Các từ ngữ xuất hiện quá phổ biến (như: 'là', 'và', 'thì', 'rất') sẽ có trọng số áp đảo nhưng không mang ý nghĩa cảm xúc.</a:t>
            </a:r>
            <a:br/>
            <a:r>
              <a:t>  - Ma trận đặc trưng phản ánh số lượng hơn là chất lượng ngữ nghĩa.</a:t>
            </a:r>
          </a:p>
        </p:txBody>
      </p:sp>
      <p:sp>
        <p:nvSpPr>
          <p:cNvPr id="8" name="Rounded Rectangle 7"/>
          <p:cNvSpPr/>
          <p:nvPr/>
        </p:nvSpPr>
        <p:spPr>
          <a:xfrm>
            <a:off x="6217920" y="1463040"/>
            <a:ext cx="5212080" cy="32918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00200"/>
            <a:ext cx="4846320" cy="457200"/>
          </a:xfrm>
          <a:prstGeom prst="rect">
            <a:avLst/>
          </a:prstGeom>
          <a:noFill/>
        </p:spPr>
        <p:txBody>
          <a:bodyPr wrap="square" lIns="0" tIns="0" rIns="0" bIns="0">
            <a:spAutoFit/>
          </a:bodyPr>
          <a:lstStyle/>
          <a:p>
            <a:r>
              <a:rPr sz="1300" b="1">
                <a:solidFill>
                  <a:srgbClr val="2563EB"/>
                </a:solidFill>
                <a:latin typeface="Segoe UI"/>
              </a:rPr>
              <a:t>TF-IDF (TERM FREQUENCY - INVERSE DOC FREQ)</a:t>
            </a:r>
            <a:r>
              <a:rPr sz="1000" b="1">
                <a:solidFill>
                  <a:srgbClr val="06B6D4"/>
                </a:solidFill>
                <a:latin typeface="Segoe UI"/>
              </a:rPr>
              <a:t>  [TRỌNG SỐ THÔNG MINH]</a:t>
            </a:r>
          </a:p>
        </p:txBody>
      </p:sp>
      <p:sp>
        <p:nvSpPr>
          <p:cNvPr id="10" name="TextBox 9"/>
          <p:cNvSpPr txBox="1"/>
          <p:nvPr/>
        </p:nvSpPr>
        <p:spPr>
          <a:xfrm>
            <a:off x="6400800" y="2011680"/>
            <a:ext cx="4846320" cy="2560320"/>
          </a:xfrm>
          <a:prstGeom prst="rect">
            <a:avLst/>
          </a:prstGeom>
          <a:noFill/>
        </p:spPr>
        <p:txBody>
          <a:bodyPr wrap="square">
            <a:spAutoFit/>
          </a:bodyPr>
          <a:lstStyle/>
          <a:p>
            <a:pPr>
              <a:defRPr sz="1100">
                <a:solidFill>
                  <a:srgbClr val="475569"/>
                </a:solidFill>
              </a:defRPr>
            </a:pPr>
            <a:r>
              <a:t>• Cơ chế tính toán trọng số: TF(t, d) × IDF(t)</a:t>
            </a:r>
            <a:br/>
            <a:r>
              <a:t>  - TF: Tần suất từ t trong câu d.</a:t>
            </a:r>
            <a:br/>
            <a:r>
              <a:t>  - IDF: Nghịch đảo tần suất xuất hiện của từ t trong toàn bộ tập văn bản.</a:t>
            </a:r>
            <a:br/>
            <a:br/>
            <a:r>
              <a:t>• Ưu điểm vượt trội:</a:t>
            </a:r>
            <a:br/>
            <a:r>
              <a:t>  - Hạ thấp trọng số của các từ phổ biến vô nghĩa.</a:t>
            </a:r>
            <a:br/>
            <a:r>
              <a:t>  - Nâng cao trọng số của các từ đặc trưng riêng biệt (như: 'tuyệt vời', 'dở tệ', 'bực mình').</a:t>
            </a:r>
          </a:p>
        </p:txBody>
      </p:sp>
      <p:sp>
        <p:nvSpPr>
          <p:cNvPr id="11" name="Rounded Rectangle 10"/>
          <p:cNvSpPr/>
          <p:nvPr/>
        </p:nvSpPr>
        <p:spPr>
          <a:xfrm>
            <a:off x="731520" y="4937760"/>
            <a:ext cx="10698480" cy="146304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5074920"/>
            <a:ext cx="10332720" cy="457200"/>
          </a:xfrm>
          <a:prstGeom prst="rect">
            <a:avLst/>
          </a:prstGeom>
          <a:noFill/>
        </p:spPr>
        <p:txBody>
          <a:bodyPr wrap="square" lIns="0" tIns="0" rIns="0" bIns="0">
            <a:spAutoFit/>
          </a:bodyPr>
          <a:lstStyle/>
          <a:p>
            <a:r>
              <a:rPr sz="1300" b="1">
                <a:solidFill>
                  <a:srgbClr val="2563EB"/>
                </a:solidFill>
                <a:latin typeface="Segoe UI"/>
              </a:rPr>
              <a:t>KỸ THUẬT N-GRAMS KẾT HỢP &amp; KIỂM SOÁT ĐỘ THƯA</a:t>
            </a:r>
            <a:r>
              <a:rPr sz="1000" b="1">
                <a:solidFill>
                  <a:srgbClr val="06B6D4"/>
                </a:solidFill>
                <a:latin typeface="Segoe UI"/>
              </a:rPr>
              <a:t>  [TỐI ƯU HÓA]</a:t>
            </a:r>
          </a:p>
        </p:txBody>
      </p:sp>
      <p:sp>
        <p:nvSpPr>
          <p:cNvPr id="13" name="TextBox 12"/>
          <p:cNvSpPr txBox="1"/>
          <p:nvPr/>
        </p:nvSpPr>
        <p:spPr>
          <a:xfrm>
            <a:off x="914400" y="5394960"/>
            <a:ext cx="10332720" cy="914400"/>
          </a:xfrm>
          <a:prstGeom prst="rect">
            <a:avLst/>
          </a:prstGeom>
          <a:noFill/>
        </p:spPr>
        <p:txBody>
          <a:bodyPr wrap="square">
            <a:spAutoFit/>
          </a:bodyPr>
          <a:lstStyle/>
          <a:p>
            <a:pPr>
              <a:defRPr sz="1050"/>
            </a:pPr>
            <a:r>
              <a:t>• Kết hợp Unigram (1, 1) và Bigram (1, 2): Giúp giữ trọn vẹn ngữ nghĩa các từ ghép tiếng Việt (ví dụ: 'hài lòng', 'thất vọng', 'không thích').</a:t>
            </a:r>
            <a:br/>
            <a:r>
              <a:t>• Giới hạn max_features = 5000: Loại bỏ các từ quá hiếm xuất hiện (nhiễu), giữ lại 5000 từ vựng quan trọng nhất để ma trận không bị phình to, tiết kiệm RAM.</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P spid="11" grpId="0" animBg="1"/>
      <p:bldP spid="12" grpId="0"/>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r>
              <a:rPr sz="2000" b="1">
                <a:solidFill>
                  <a:srgbClr val="2563EB"/>
                </a:solidFill>
                <a:latin typeface="Segoe UI"/>
              </a:rPr>
              <a:t>08. </a:t>
            </a:r>
            <a:r>
              <a:rPr sz="2000" b="1">
                <a:solidFill>
                  <a:srgbClr val="0F172A"/>
                </a:solidFill>
                <a:latin typeface="Segoe UI"/>
              </a:rPr>
              <a:t>LỰA CHỌN CÁC GIẢI THUẬT HỌC MÁY ĐỐI ĐẦU</a:t>
            </a:r>
          </a:p>
        </p:txBody>
      </p:sp>
      <p:sp>
        <p:nvSpPr>
          <p:cNvPr id="4" name="Rectangle 3"/>
          <p:cNvSpPr/>
          <p:nvPr/>
        </p:nvSpPr>
        <p:spPr>
          <a:xfrm>
            <a:off x="731520" y="1188720"/>
            <a:ext cx="1072865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3413455"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3047695" cy="457200"/>
          </a:xfrm>
          <a:prstGeom prst="rect">
            <a:avLst/>
          </a:prstGeom>
          <a:noFill/>
        </p:spPr>
        <p:txBody>
          <a:bodyPr wrap="square" lIns="0" tIns="0" rIns="0" bIns="0">
            <a:spAutoFit/>
          </a:bodyPr>
          <a:lstStyle/>
          <a:p>
            <a:r>
              <a:rPr sz="1300" b="1">
                <a:solidFill>
                  <a:srgbClr val="2563EB"/>
                </a:solidFill>
                <a:latin typeface="Segoe UI"/>
              </a:rPr>
              <a:t>Naive Bayes &amp; Logistic Regression</a:t>
            </a:r>
            <a:r>
              <a:rPr sz="1000" b="1">
                <a:solidFill>
                  <a:srgbClr val="06B6D4"/>
                </a:solidFill>
                <a:latin typeface="Segoe UI"/>
              </a:rPr>
              <a:t>  [NHÓM 1: TUYẾN TÍNH &amp; XÁC SUẤT]</a:t>
            </a:r>
          </a:p>
        </p:txBody>
      </p:sp>
      <p:sp>
        <p:nvSpPr>
          <p:cNvPr id="7" name="TextBox 6"/>
          <p:cNvSpPr txBox="1"/>
          <p:nvPr/>
        </p:nvSpPr>
        <p:spPr>
          <a:xfrm>
            <a:off x="914400" y="2103120"/>
            <a:ext cx="3047695" cy="3108960"/>
          </a:xfrm>
          <a:prstGeom prst="rect">
            <a:avLst/>
          </a:prstGeom>
          <a:noFill/>
        </p:spPr>
        <p:txBody>
          <a:bodyPr wrap="square">
            <a:spAutoFit/>
          </a:bodyPr>
          <a:lstStyle/>
          <a:p>
            <a:r>
              <a:rPr sz="1100" b="1"/>
              <a:t>• Multinomial Naive Bayes
</a:t>
            </a:r>
            <a:r>
              <a:rPr sz="1000">
                <a:solidFill>
                  <a:srgbClr val="475569"/>
                </a:solidFill>
              </a:rPr>
              <a:t>Mô hình xác suất kinh điển, tốc độ siêu nhanh, đóng vai trò Baseline.
</a:t>
            </a:r>
          </a:p>
          <a:p>
            <a:r>
              <a:rPr sz="1100" b="1"/>
              <a:t>• Logistic Regression
</a:t>
            </a:r>
            <a:r>
              <a:rPr sz="1000">
                <a:solidFill>
                  <a:srgbClr val="475569"/>
                </a:solidFill>
              </a:rPr>
              <a:t>Hàm phân lớp Sigmoid/Softmax, phân lớp đa lớp One-vs-Rest mạnh mẽ.
</a:t>
            </a:r>
          </a:p>
        </p:txBody>
      </p:sp>
      <p:sp>
        <p:nvSpPr>
          <p:cNvPr id="8" name="Rounded Rectangle 7"/>
          <p:cNvSpPr/>
          <p:nvPr/>
        </p:nvSpPr>
        <p:spPr>
          <a:xfrm>
            <a:off x="4389120" y="1463040"/>
            <a:ext cx="3413455"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600200"/>
            <a:ext cx="3047695" cy="457200"/>
          </a:xfrm>
          <a:prstGeom prst="rect">
            <a:avLst/>
          </a:prstGeom>
          <a:noFill/>
        </p:spPr>
        <p:txBody>
          <a:bodyPr wrap="square" lIns="0" tIns="0" rIns="0" bIns="0">
            <a:spAutoFit/>
          </a:bodyPr>
          <a:lstStyle/>
          <a:p>
            <a:r>
              <a:rPr sz="1300" b="1">
                <a:solidFill>
                  <a:srgbClr val="2563EB"/>
                </a:solidFill>
                <a:latin typeface="Segoe UI"/>
              </a:rPr>
              <a:t>Support Vector Machines (SVM)</a:t>
            </a:r>
            <a:r>
              <a:rPr sz="1000" b="1">
                <a:solidFill>
                  <a:srgbClr val="06B6D4"/>
                </a:solidFill>
                <a:latin typeface="Segoe UI"/>
              </a:rPr>
              <a:t>  [NHÓM 2: BIÊN TỐI ƯU (MARGIN-BASED)]</a:t>
            </a:r>
          </a:p>
        </p:txBody>
      </p:sp>
      <p:sp>
        <p:nvSpPr>
          <p:cNvPr id="10" name="TextBox 9"/>
          <p:cNvSpPr txBox="1"/>
          <p:nvPr/>
        </p:nvSpPr>
        <p:spPr>
          <a:xfrm>
            <a:off x="4572000" y="2103120"/>
            <a:ext cx="3047695" cy="3108960"/>
          </a:xfrm>
          <a:prstGeom prst="rect">
            <a:avLst/>
          </a:prstGeom>
          <a:noFill/>
        </p:spPr>
        <p:txBody>
          <a:bodyPr wrap="square">
            <a:spAutoFit/>
          </a:bodyPr>
          <a:lstStyle/>
          <a:p>
            <a:r>
              <a:rPr sz="1100" b="1"/>
              <a:t>• LinearSVC (Linear SVM)
</a:t>
            </a:r>
            <a:r>
              <a:rPr sz="1000">
                <a:solidFill>
                  <a:srgbClr val="475569"/>
                </a:solidFill>
              </a:rPr>
              <a:t>Tìm siêu phẳng cực đại hóa biên phân cách (Maximum Margin).
</a:t>
            </a:r>
          </a:p>
          <a:p>
            <a:r>
              <a:rPr sz="1100" b="1"/>
              <a:t>• Thế mạnh đặc biệt
</a:t>
            </a:r>
            <a:r>
              <a:rPr sz="1000">
                <a:solidFill>
                  <a:srgbClr val="475569"/>
                </a:solidFill>
              </a:rPr>
              <a:t>Được chứng minh là mô hình hiệu quả hàng đầu trên bài toán phân loại văn bản ma trận thưa.
</a:t>
            </a:r>
          </a:p>
        </p:txBody>
      </p:sp>
      <p:sp>
        <p:nvSpPr>
          <p:cNvPr id="11" name="Rounded Rectangle 10"/>
          <p:cNvSpPr/>
          <p:nvPr/>
        </p:nvSpPr>
        <p:spPr>
          <a:xfrm>
            <a:off x="8046720" y="1463040"/>
            <a:ext cx="3413455" cy="39319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1600200"/>
            <a:ext cx="3047695" cy="457200"/>
          </a:xfrm>
          <a:prstGeom prst="rect">
            <a:avLst/>
          </a:prstGeom>
          <a:noFill/>
        </p:spPr>
        <p:txBody>
          <a:bodyPr wrap="square" lIns="0" tIns="0" rIns="0" bIns="0">
            <a:spAutoFit/>
          </a:bodyPr>
          <a:lstStyle/>
          <a:p>
            <a:r>
              <a:rPr sz="1300" b="1">
                <a:solidFill>
                  <a:srgbClr val="2563EB"/>
                </a:solidFill>
                <a:latin typeface="Segoe UI"/>
              </a:rPr>
              <a:t>Decision Tree &amp; Random Forest</a:t>
            </a:r>
            <a:r>
              <a:rPr sz="1000" b="1">
                <a:solidFill>
                  <a:srgbClr val="06B6D4"/>
                </a:solidFill>
                <a:latin typeface="Segoe UI"/>
              </a:rPr>
              <a:t>  [NHÓM 3: CÂY QUYẾT ĐỊNH &amp; ENSEMBLE]</a:t>
            </a:r>
          </a:p>
        </p:txBody>
      </p:sp>
      <p:sp>
        <p:nvSpPr>
          <p:cNvPr id="13" name="TextBox 12"/>
          <p:cNvSpPr txBox="1"/>
          <p:nvPr/>
        </p:nvSpPr>
        <p:spPr>
          <a:xfrm>
            <a:off x="8229600" y="2103120"/>
            <a:ext cx="3047695" cy="3108960"/>
          </a:xfrm>
          <a:prstGeom prst="rect">
            <a:avLst/>
          </a:prstGeom>
          <a:noFill/>
        </p:spPr>
        <p:txBody>
          <a:bodyPr wrap="square">
            <a:spAutoFit/>
          </a:bodyPr>
          <a:lstStyle/>
          <a:p>
            <a:r>
              <a:rPr sz="1100" b="1"/>
              <a:t>• Decision Tree
</a:t>
            </a:r>
            <a:r>
              <a:rPr sz="1000">
                <a:solidFill>
                  <a:srgbClr val="475569"/>
                </a:solidFill>
              </a:rPr>
              <a:t>Phân nhánh dữ liệu theo chỉ số Gini/Entropy, trực quan nhưng dễ quá khớp.
</a:t>
            </a:r>
          </a:p>
          <a:p>
            <a:r>
              <a:rPr sz="1100" b="1"/>
              <a:t>• Random Forest
</a:t>
            </a:r>
            <a:r>
              <a:rPr sz="1000">
                <a:solidFill>
                  <a:srgbClr val="475569"/>
                </a:solidFill>
              </a:rPr>
              <a:t>Tập hợp nhiều cây quyết định độc lập (Bagging) để giảm thiểu phương sai (Variance).
</a:t>
            </a:r>
          </a:p>
        </p:txBody>
      </p:sp>
      <p:sp>
        <p:nvSpPr>
          <p:cNvPr id="14" name="Rounded Rectangle 13"/>
          <p:cNvSpPr/>
          <p:nvPr/>
        </p:nvSpPr>
        <p:spPr>
          <a:xfrm>
            <a:off x="731520" y="5577840"/>
            <a:ext cx="10698480" cy="868680"/>
          </a:xfrm>
          <a:prstGeom prst="roundRect">
            <a:avLst/>
          </a:prstGeom>
          <a:solidFill>
            <a:srgbClr val="EFF6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5715000"/>
            <a:ext cx="10332720" cy="640080"/>
          </a:xfrm>
          <a:prstGeom prst="rect">
            <a:avLst/>
          </a:prstGeom>
          <a:noFill/>
        </p:spPr>
        <p:txBody>
          <a:bodyPr wrap="square">
            <a:spAutoFit/>
          </a:bodyPr>
          <a:lstStyle/>
          <a:p>
            <a:r>
              <a:rPr sz="1100" b="1">
                <a:solidFill>
                  <a:srgbClr val="2563EB"/>
                </a:solidFill>
              </a:rPr>
              <a:t>MỤC TIÊU NGHIÊN CỨU ĐỐI ĐẦU: </a:t>
            </a:r>
            <a:r>
              <a:rPr sz="1050"/>
              <a:t>Khảo sát xem liệu mô hình tập hợp phi tuyến phức tạp (Random Forest) có vượt trội hơn mô hình tuyến tính đơn giản (LinearSVC) trên bài toán NLP ma trận thưa hay không, từ đó rút ra bài học lựa chọn mô hình tối ưu.</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fade">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fade">
                                      <p:cBhvr>
                                        <p:cTn id="6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P spid="11" grpId="0" animBg="1"/>
      <p:bldP spid="12" grpId="0"/>
      <p:bldP spid="13" grpId="0"/>
      <p:bldP spid="14" grpId="0" animBg="1"/>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r>
              <a:rPr sz="2000" b="1">
                <a:solidFill>
                  <a:srgbClr val="2563EB"/>
                </a:solidFill>
                <a:latin typeface="Segoe UI"/>
              </a:rPr>
              <a:t>09. </a:t>
            </a:r>
            <a:r>
              <a:rPr sz="2000" b="1">
                <a:solidFill>
                  <a:srgbClr val="0F172A"/>
                </a:solidFill>
                <a:latin typeface="Segoe UI"/>
              </a:rPr>
              <a:t>CHI TIẾT NHÓM MÔ HÌNH TUYẾN TÍNH &amp; XÁC SUẤT</a:t>
            </a:r>
          </a:p>
        </p:txBody>
      </p:sp>
      <p:sp>
        <p:nvSpPr>
          <p:cNvPr id="4" name="Rectangle 3"/>
          <p:cNvSpPr/>
          <p:nvPr/>
        </p:nvSpPr>
        <p:spPr>
          <a:xfrm>
            <a:off x="731520" y="1188720"/>
            <a:ext cx="1072865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34134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3047695" cy="457200"/>
          </a:xfrm>
          <a:prstGeom prst="rect">
            <a:avLst/>
          </a:prstGeom>
          <a:noFill/>
        </p:spPr>
        <p:txBody>
          <a:bodyPr wrap="square" lIns="0" tIns="0" rIns="0" bIns="0">
            <a:spAutoFit/>
          </a:bodyPr>
          <a:lstStyle/>
          <a:p>
            <a:r>
              <a:rPr sz="1300" b="1">
                <a:solidFill>
                  <a:srgbClr val="2563EB"/>
                </a:solidFill>
                <a:latin typeface="Segoe UI"/>
              </a:rPr>
              <a:t>Mô Hình Xác Suất Kinh Điển</a:t>
            </a:r>
            <a:r>
              <a:rPr sz="1000" b="1">
                <a:solidFill>
                  <a:srgbClr val="06B6D4"/>
                </a:solidFill>
                <a:latin typeface="Segoe UI"/>
              </a:rPr>
              <a:t>  [MULTINOMIAL NAIVE BAYES]</a:t>
            </a:r>
          </a:p>
        </p:txBody>
      </p:sp>
      <p:sp>
        <p:nvSpPr>
          <p:cNvPr id="7" name="TextBox 6"/>
          <p:cNvSpPr txBox="1"/>
          <p:nvPr/>
        </p:nvSpPr>
        <p:spPr>
          <a:xfrm>
            <a:off x="914400" y="2103120"/>
            <a:ext cx="3047695" cy="4023360"/>
          </a:xfrm>
          <a:prstGeom prst="rect">
            <a:avLst/>
          </a:prstGeom>
          <a:noFill/>
        </p:spPr>
        <p:txBody>
          <a:bodyPr wrap="square">
            <a:spAutoFit/>
          </a:bodyPr>
          <a:lstStyle/>
          <a:p>
            <a:pPr>
              <a:defRPr sz="1050">
                <a:solidFill>
                  <a:srgbClr val="475569"/>
                </a:solidFill>
              </a:defRPr>
            </a:pPr>
            <a:r>
              <a:t>• Nguyên lý: Dựa trên định lý Bayes P(c|d) = P(c)P(d|c) / P(d) với giả định độc lập có điều kiện giữa các từ.</a:t>
            </a:r>
            <a:br/>
            <a:r>
              <a:t>• Áp dụng hệ số làm mịn Laplace (alpha = 1.0) để giải quyết từ chưa từng xuất hiện (Zero-probability).</a:t>
            </a:r>
            <a:br/>
            <a:r>
              <a:t>• Ưu điểm: Huấn luyện cực nhanh chỉ trong vài giây, tốn rất ít RAM, là mốc Baseline đối chứng lý tưởng.</a:t>
            </a:r>
          </a:p>
        </p:txBody>
      </p:sp>
      <p:sp>
        <p:nvSpPr>
          <p:cNvPr id="8" name="Rounded Rectangle 7"/>
          <p:cNvSpPr/>
          <p:nvPr/>
        </p:nvSpPr>
        <p:spPr>
          <a:xfrm>
            <a:off x="4389120" y="1463040"/>
            <a:ext cx="34134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600200"/>
            <a:ext cx="3047695" cy="457200"/>
          </a:xfrm>
          <a:prstGeom prst="rect">
            <a:avLst/>
          </a:prstGeom>
          <a:noFill/>
        </p:spPr>
        <p:txBody>
          <a:bodyPr wrap="square" lIns="0" tIns="0" rIns="0" bIns="0">
            <a:spAutoFit/>
          </a:bodyPr>
          <a:lstStyle/>
          <a:p>
            <a:r>
              <a:rPr sz="1300" b="1">
                <a:solidFill>
                  <a:srgbClr val="2563EB"/>
                </a:solidFill>
                <a:latin typeface="Segoe UI"/>
              </a:rPr>
              <a:t>Hồi Quy Tuyến Tính Phân Lớp</a:t>
            </a:r>
            <a:r>
              <a:rPr sz="1000" b="1">
                <a:solidFill>
                  <a:srgbClr val="06B6D4"/>
                </a:solidFill>
                <a:latin typeface="Segoe UI"/>
              </a:rPr>
              <a:t>  [LOGISTIC REGRESSION]</a:t>
            </a:r>
          </a:p>
        </p:txBody>
      </p:sp>
      <p:sp>
        <p:nvSpPr>
          <p:cNvPr id="10" name="TextBox 9"/>
          <p:cNvSpPr txBox="1"/>
          <p:nvPr/>
        </p:nvSpPr>
        <p:spPr>
          <a:xfrm>
            <a:off x="4572000" y="2103120"/>
            <a:ext cx="3047695" cy="4023360"/>
          </a:xfrm>
          <a:prstGeom prst="rect">
            <a:avLst/>
          </a:prstGeom>
          <a:noFill/>
        </p:spPr>
        <p:txBody>
          <a:bodyPr wrap="square">
            <a:spAutoFit/>
          </a:bodyPr>
          <a:lstStyle/>
          <a:p>
            <a:pPr>
              <a:defRPr sz="1050">
                <a:solidFill>
                  <a:srgbClr val="475569"/>
                </a:solidFill>
              </a:defRPr>
            </a:pPr>
            <a:r>
              <a:t>• Nguyên lý: Sử dụng hàm Sigmoid/Softmax để ánh xạ tổ hợp tuyến tính các đặc trưng sang xác suất thuộc về từng lớp cảm xúc.</a:t>
            </a:r>
            <a:br/>
            <a:r>
              <a:t>• Áp dụng chiến lược One-vs-Rest (OvR) cho bài toán 7 nhãn đa lớp.</a:t>
            </a:r>
            <a:br/>
            <a:r>
              <a:t>• Ưu điểm: Khả năng diễn giải cao (Interpretable) thông qua trọng số của từng từ vựng, hạn chế quá khớp tốt.</a:t>
            </a:r>
          </a:p>
        </p:txBody>
      </p:sp>
      <p:sp>
        <p:nvSpPr>
          <p:cNvPr id="11" name="Rounded Rectangle 10"/>
          <p:cNvSpPr/>
          <p:nvPr/>
        </p:nvSpPr>
        <p:spPr>
          <a:xfrm>
            <a:off x="8046720" y="1463040"/>
            <a:ext cx="34134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1600200"/>
            <a:ext cx="3047695" cy="457200"/>
          </a:xfrm>
          <a:prstGeom prst="rect">
            <a:avLst/>
          </a:prstGeom>
          <a:noFill/>
        </p:spPr>
        <p:txBody>
          <a:bodyPr wrap="square" lIns="0" tIns="0" rIns="0" bIns="0">
            <a:spAutoFit/>
          </a:bodyPr>
          <a:lstStyle/>
          <a:p>
            <a:r>
              <a:rPr sz="1300" b="1">
                <a:solidFill>
                  <a:srgbClr val="2563EB"/>
                </a:solidFill>
                <a:latin typeface="Segoe UI"/>
              </a:rPr>
              <a:t>Cực Đại Hóa Khoảng Cách Biên</a:t>
            </a:r>
            <a:r>
              <a:rPr sz="1000" b="1">
                <a:solidFill>
                  <a:srgbClr val="06B6D4"/>
                </a:solidFill>
                <a:latin typeface="Segoe UI"/>
              </a:rPr>
              <a:t>  [LINEAR SVC (SUPPORT VECTOR MACHINE)]</a:t>
            </a:r>
          </a:p>
        </p:txBody>
      </p:sp>
      <p:sp>
        <p:nvSpPr>
          <p:cNvPr id="13" name="TextBox 12"/>
          <p:cNvSpPr txBox="1"/>
          <p:nvPr/>
        </p:nvSpPr>
        <p:spPr>
          <a:xfrm>
            <a:off x="8229600" y="2103120"/>
            <a:ext cx="3047695" cy="4023360"/>
          </a:xfrm>
          <a:prstGeom prst="rect">
            <a:avLst/>
          </a:prstGeom>
          <a:noFill/>
        </p:spPr>
        <p:txBody>
          <a:bodyPr wrap="square">
            <a:spAutoFit/>
          </a:bodyPr>
          <a:lstStyle/>
          <a:p>
            <a:pPr>
              <a:defRPr sz="1050">
                <a:solidFill>
                  <a:srgbClr val="475569"/>
                </a:solidFill>
              </a:defRPr>
            </a:pPr>
            <a:r>
              <a:t>• Nguyên lý: Tìm siêu phẳng tối ưu trong không gian 5000 chiều sao cho khoảng cách biên (Margin) giữa các lớp là lớn nhất, tối ưu Hinge Loss.</a:t>
            </a:r>
            <a:br/>
            <a:r>
              <a:t>• Chuẩn hóa L2 penalty và tinh chỉnh tham số điều chuẩn C.</a:t>
            </a:r>
            <a:br/>
            <a:r>
              <a:t>• Ưu điểm: Thể hiện độ chính xác và Macro-F1 vượt trội nhất trên dữ liệu ma trận văn bản dạng thưa.</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P spid="11" grpId="0" animBg="1"/>
      <p:bldP spid="12"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r>
              <a:rPr sz="2000" b="1">
                <a:solidFill>
                  <a:srgbClr val="2563EB"/>
                </a:solidFill>
                <a:latin typeface="Segoe UI"/>
              </a:rPr>
              <a:t>10. </a:t>
            </a:r>
            <a:r>
              <a:rPr sz="2000" b="1">
                <a:solidFill>
                  <a:srgbClr val="0F172A"/>
                </a:solidFill>
                <a:latin typeface="Segoe UI"/>
              </a:rPr>
              <a:t>CHI TIẾT NHÓM MÔ HÌNH CÂY QUYẾT ĐỊNH &amp; ENSEMBLE</a:t>
            </a:r>
          </a:p>
        </p:txBody>
      </p:sp>
      <p:sp>
        <p:nvSpPr>
          <p:cNvPr id="4" name="Rectangle 3"/>
          <p:cNvSpPr/>
          <p:nvPr/>
        </p:nvSpPr>
        <p:spPr>
          <a:xfrm>
            <a:off x="731520" y="1188720"/>
            <a:ext cx="1072865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52120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4846320" cy="457200"/>
          </a:xfrm>
          <a:prstGeom prst="rect">
            <a:avLst/>
          </a:prstGeom>
          <a:noFill/>
        </p:spPr>
        <p:txBody>
          <a:bodyPr wrap="square" lIns="0" tIns="0" rIns="0" bIns="0">
            <a:spAutoFit/>
          </a:bodyPr>
          <a:lstStyle/>
          <a:p>
            <a:r>
              <a:rPr sz="1300" b="1">
                <a:solidFill>
                  <a:srgbClr val="2563EB"/>
                </a:solidFill>
                <a:latin typeface="Segoe UI"/>
              </a:rPr>
              <a:t>DECISION TREE (CÂY QUYẾT ĐỊNH)</a:t>
            </a:r>
            <a:r>
              <a:rPr sz="1000" b="1">
                <a:solidFill>
                  <a:srgbClr val="06B6D4"/>
                </a:solidFill>
                <a:latin typeface="Segoe UI"/>
              </a:rPr>
              <a:t>  [MÔ HÌNH ĐƠN LẺ]</a:t>
            </a:r>
          </a:p>
        </p:txBody>
      </p:sp>
      <p:sp>
        <p:nvSpPr>
          <p:cNvPr id="7" name="TextBox 6"/>
          <p:cNvSpPr txBox="1"/>
          <p:nvPr/>
        </p:nvSpPr>
        <p:spPr>
          <a:xfrm>
            <a:off x="914400" y="2011680"/>
            <a:ext cx="4846320" cy="3108960"/>
          </a:xfrm>
          <a:prstGeom prst="rect">
            <a:avLst/>
          </a:prstGeom>
          <a:noFill/>
        </p:spPr>
        <p:txBody>
          <a:bodyPr wrap="square">
            <a:spAutoFit/>
          </a:bodyPr>
          <a:lstStyle/>
          <a:p>
            <a:pPr>
              <a:defRPr sz="1100">
                <a:solidFill>
                  <a:srgbClr val="475569"/>
                </a:solidFill>
              </a:defRPr>
            </a:pPr>
            <a:r>
              <a:t>• Nguyên lý hoạt động: Phân chia không gian dữ liệu tuần tự dựa trên tiêu chí tối ưu độ vẩn đục (Gini Impurity hoặc Information Gain / Entropy).</a:t>
            </a:r>
            <a:br/>
            <a:br/>
            <a:r>
              <a:t>• Nhược điểm trên dữ liệu văn bản NLP:</a:t>
            </a:r>
            <a:br/>
            <a:r>
              <a:t>  - Ma trận TF-IDF có tới 5000 chiều nhưng câu văn chỉ chứa vài từ -&gt; Cây rất dễ bị rẽ nhánh sâu và ghi nhớ dữ liệu huấn luyện (Overfitting).</a:t>
            </a:r>
            <a:br/>
            <a:r>
              <a:t>  - Độ chính xác thường tụt dốc khi kiểm thử trên tập dữ liệu mới.</a:t>
            </a:r>
          </a:p>
        </p:txBody>
      </p:sp>
      <p:sp>
        <p:nvSpPr>
          <p:cNvPr id="8" name="Rounded Rectangle 7"/>
          <p:cNvSpPr/>
          <p:nvPr/>
        </p:nvSpPr>
        <p:spPr>
          <a:xfrm>
            <a:off x="6217920" y="1463040"/>
            <a:ext cx="5212080" cy="384048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00200"/>
            <a:ext cx="4846320" cy="457200"/>
          </a:xfrm>
          <a:prstGeom prst="rect">
            <a:avLst/>
          </a:prstGeom>
          <a:noFill/>
        </p:spPr>
        <p:txBody>
          <a:bodyPr wrap="square" lIns="0" tIns="0" rIns="0" bIns="0">
            <a:spAutoFit/>
          </a:bodyPr>
          <a:lstStyle/>
          <a:p>
            <a:r>
              <a:rPr sz="1300" b="1">
                <a:solidFill>
                  <a:srgbClr val="2563EB"/>
                </a:solidFill>
                <a:latin typeface="Segoe UI"/>
              </a:rPr>
              <a:t>RANDOM FOREST (RỪNG NGẪU NHIÊN)</a:t>
            </a:r>
            <a:r>
              <a:rPr sz="1000" b="1">
                <a:solidFill>
                  <a:srgbClr val="06B6D4"/>
                </a:solidFill>
                <a:latin typeface="Segoe UI"/>
              </a:rPr>
              <a:t>  [ENSEMBLE BAGGING]</a:t>
            </a:r>
          </a:p>
        </p:txBody>
      </p:sp>
      <p:sp>
        <p:nvSpPr>
          <p:cNvPr id="10" name="TextBox 9"/>
          <p:cNvSpPr txBox="1"/>
          <p:nvPr/>
        </p:nvSpPr>
        <p:spPr>
          <a:xfrm>
            <a:off x="6400800" y="2011680"/>
            <a:ext cx="4846320" cy="3108960"/>
          </a:xfrm>
          <a:prstGeom prst="rect">
            <a:avLst/>
          </a:prstGeom>
          <a:noFill/>
        </p:spPr>
        <p:txBody>
          <a:bodyPr wrap="square">
            <a:spAutoFit/>
          </a:bodyPr>
          <a:lstStyle/>
          <a:p>
            <a:pPr>
              <a:defRPr sz="1100">
                <a:solidFill>
                  <a:srgbClr val="475569"/>
                </a:solidFill>
              </a:defRPr>
            </a:pPr>
            <a:r>
              <a:t>• Nguyên lý hoạt động: Tập hợp nhiều cây quyết định độc lập (mặc định n_estimators = 100), mỗi cây được huấn luyện trên một tập con dữ liệu ngẫu nhiên (Bootstrap) và tập con đặc trưng.</a:t>
            </a:r>
            <a:br/>
            <a:br/>
            <a:r>
              <a:t>• Cơ chế bỏ phiếu (Majority Voting): Tổng hợp dự đoán của tất cả các cây để đưa ra kết quả cuối cùng, giúp giảm thiểu phương sai (Variance) của mô hình cây đơn lẻ.</a:t>
            </a:r>
          </a:p>
        </p:txBody>
      </p:sp>
      <p:sp>
        <p:nvSpPr>
          <p:cNvPr id="11" name="Rounded Rectangle 10"/>
          <p:cNvSpPr/>
          <p:nvPr/>
        </p:nvSpPr>
        <p:spPr>
          <a:xfrm>
            <a:off x="731520" y="5486400"/>
            <a:ext cx="10698480" cy="914400"/>
          </a:xfrm>
          <a:prstGeom prst="roundRect">
            <a:avLst/>
          </a:prstGeom>
          <a:solidFill>
            <a:srgbClr val="EFF6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5623560"/>
            <a:ext cx="10332720" cy="685800"/>
          </a:xfrm>
          <a:prstGeom prst="rect">
            <a:avLst/>
          </a:prstGeom>
          <a:noFill/>
        </p:spPr>
        <p:txBody>
          <a:bodyPr wrap="square">
            <a:spAutoFit/>
          </a:bodyPr>
          <a:lstStyle/>
          <a:p>
            <a:r>
              <a:rPr sz="1100" b="1">
                <a:solidFill>
                  <a:srgbClr val="2563EB"/>
                </a:solidFill>
              </a:rPr>
              <a:t>PHÂN TÍCH ĐÁNH ĐỔI TÀI NGUYÊN (TRADE-OFF): </a:t>
            </a:r>
            <a:r>
              <a:rPr sz="1050"/>
              <a:t>Random Forest tốn thời gian huấn luyện gấp 10-15 lần so với LinearSVC nhưng độ chính xác trên ma trận thưa NLP thường không cao bằng -&gt; Bài học thực tế về việc chọn mô hình phù hợp với bản chất dữ liệu.</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P spid="11" grpId="0" animBg="1"/>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r>
              <a:rPr sz="2000" b="1">
                <a:solidFill>
                  <a:srgbClr val="2563EB"/>
                </a:solidFill>
                <a:latin typeface="Segoe UI"/>
              </a:rPr>
              <a:t>11. </a:t>
            </a:r>
            <a:r>
              <a:rPr sz="2000" b="1">
                <a:solidFill>
                  <a:srgbClr val="0F172A"/>
                </a:solidFill>
                <a:latin typeface="Segoe UI"/>
              </a:rPr>
              <a:t>CHIẾN LƯỢC TỐI ƯU SIÊU THAM SỐ &amp; KIỂM ĐỊNH K-FOLD</a:t>
            </a:r>
          </a:p>
        </p:txBody>
      </p:sp>
      <p:sp>
        <p:nvSpPr>
          <p:cNvPr id="4" name="Rectangle 3"/>
          <p:cNvSpPr/>
          <p:nvPr/>
        </p:nvSpPr>
        <p:spPr>
          <a:xfrm>
            <a:off x="731520" y="1188720"/>
            <a:ext cx="1072865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52120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4846320" cy="457200"/>
          </a:xfrm>
          <a:prstGeom prst="rect">
            <a:avLst/>
          </a:prstGeom>
          <a:noFill/>
        </p:spPr>
        <p:txBody>
          <a:bodyPr wrap="square" lIns="0" tIns="0" rIns="0" bIns="0">
            <a:spAutoFit/>
          </a:bodyPr>
          <a:lstStyle/>
          <a:p>
            <a:r>
              <a:rPr sz="1300" b="1">
                <a:solidFill>
                  <a:srgbClr val="2563EB"/>
                </a:solidFill>
                <a:latin typeface="Segoe UI"/>
              </a:rPr>
              <a:t>STRATIFIED K-FOLD CROSS-VALIDATION</a:t>
            </a:r>
            <a:r>
              <a:rPr sz="1000" b="1">
                <a:solidFill>
                  <a:srgbClr val="06B6D4"/>
                </a:solidFill>
                <a:latin typeface="Segoe UI"/>
              </a:rPr>
              <a:t>  [K = 5 FOLDS]</a:t>
            </a:r>
          </a:p>
        </p:txBody>
      </p:sp>
      <p:sp>
        <p:nvSpPr>
          <p:cNvPr id="7" name="TextBox 6"/>
          <p:cNvSpPr txBox="1"/>
          <p:nvPr/>
        </p:nvSpPr>
        <p:spPr>
          <a:xfrm>
            <a:off x="914400" y="2011680"/>
            <a:ext cx="4846320" cy="4023360"/>
          </a:xfrm>
          <a:prstGeom prst="rect">
            <a:avLst/>
          </a:prstGeom>
          <a:noFill/>
        </p:spPr>
        <p:txBody>
          <a:bodyPr wrap="square">
            <a:spAutoFit/>
          </a:bodyPr>
          <a:lstStyle/>
          <a:p>
            <a:pPr>
              <a:defRPr sz="1100">
                <a:solidFill>
                  <a:srgbClr val="475569"/>
                </a:solidFill>
              </a:defRPr>
            </a:pPr>
            <a:r>
              <a:t>• Tại sao phải dùng Stratified K-Fold thay vì K-Fold thông thường?</a:t>
            </a:r>
            <a:br/>
            <a:r>
              <a:t>  - Do tập dữ liệu UIT-VSMEC mất cân bằng (lớp Fear, Surprise rất ít), K-Fold thường có thể khiến một số fold bị thiếu nhãn.</a:t>
            </a:r>
            <a:br/>
            <a:r>
              <a:t>  - Stratified K-Fold đảm bảo tỷ lệ 7 nhãn được phân bố đồng đều hoàn hảo ở cả 5 phần chia.</a:t>
            </a:r>
            <a:br/>
            <a:br/>
            <a:r>
              <a:t>• Quy trình kiểm định:</a:t>
            </a:r>
            <a:br/>
            <a:r>
              <a:t>  - 4 phần dùng để Train &amp; Tuning.</a:t>
            </a:r>
            <a:br/>
            <a:r>
              <a:t>  - 1 phần dùng để Validate.</a:t>
            </a:r>
            <a:br/>
            <a:r>
              <a:t>  - Luân phiên 5 lần để lấy điểm trung bình khách quan, loại bỏ hoàn toàn hiện tượng 'ăn may' khi chia dữ liệu.</a:t>
            </a:r>
          </a:p>
        </p:txBody>
      </p:sp>
      <p:sp>
        <p:nvSpPr>
          <p:cNvPr id="8" name="Rounded Rectangle 7"/>
          <p:cNvSpPr/>
          <p:nvPr/>
        </p:nvSpPr>
        <p:spPr>
          <a:xfrm>
            <a:off x="6217920" y="1463040"/>
            <a:ext cx="52120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00200"/>
            <a:ext cx="4846320" cy="457200"/>
          </a:xfrm>
          <a:prstGeom prst="rect">
            <a:avLst/>
          </a:prstGeom>
          <a:noFill/>
        </p:spPr>
        <p:txBody>
          <a:bodyPr wrap="square" lIns="0" tIns="0" rIns="0" bIns="0">
            <a:spAutoFit/>
          </a:bodyPr>
          <a:lstStyle/>
          <a:p>
            <a:r>
              <a:rPr sz="1300" b="1">
                <a:solidFill>
                  <a:srgbClr val="2563EB"/>
                </a:solidFill>
                <a:latin typeface="Segoe UI"/>
              </a:rPr>
              <a:t>GRID SEARCH SIÊU THAM SỐ (HYPERPARAMETER TUNING)</a:t>
            </a:r>
            <a:r>
              <a:rPr sz="1000" b="1">
                <a:solidFill>
                  <a:srgbClr val="06B6D4"/>
                </a:solidFill>
                <a:latin typeface="Segoe UI"/>
              </a:rPr>
              <a:t>  [TỐI ƯU HÓA]</a:t>
            </a:r>
          </a:p>
        </p:txBody>
      </p:sp>
      <p:sp>
        <p:nvSpPr>
          <p:cNvPr id="10" name="TextBox 9"/>
          <p:cNvSpPr txBox="1"/>
          <p:nvPr/>
        </p:nvSpPr>
        <p:spPr>
          <a:xfrm>
            <a:off x="6400800" y="2011680"/>
            <a:ext cx="4846320" cy="4023360"/>
          </a:xfrm>
          <a:prstGeom prst="rect">
            <a:avLst/>
          </a:prstGeom>
          <a:noFill/>
        </p:spPr>
        <p:txBody>
          <a:bodyPr wrap="square">
            <a:spAutoFit/>
          </a:bodyPr>
          <a:lstStyle/>
          <a:p>
            <a:pPr>
              <a:defRPr sz="1050">
                <a:solidFill>
                  <a:srgbClr val="475569"/>
                </a:solidFill>
              </a:defRPr>
            </a:pPr>
            <a:r>
              <a:t>• Không gian tìm kiếm tham số tối ưu:</a:t>
            </a:r>
            <a:br/>
            <a:br/>
            <a:r>
              <a:t>1. Multinomial Naive Bayes:</a:t>
            </a:r>
            <a:br/>
            <a:r>
              <a:t>   - Hệ số làm mịn alpha: [0.01, 0.1, 0.5, 1.0]</a:t>
            </a:r>
            <a:br/>
            <a:br/>
            <a:r>
              <a:t>2. Logistic Regression:</a:t>
            </a:r>
            <a:br/>
            <a:r>
              <a:t>   - Tham số điều chuẩn C: [0.1, 1.0, 10.0]</a:t>
            </a:r>
            <a:br/>
            <a:r>
              <a:t>   - Chuẩn hóa: Penalty L2</a:t>
            </a:r>
            <a:br/>
            <a:br/>
            <a:r>
              <a:t>3. LinearSVC (Support Vector Machine):</a:t>
            </a:r>
            <a:br/>
            <a:r>
              <a:t>   - Tham số phạt C: [0.01, 0.1, 1.0, 5.0, 10.0]</a:t>
            </a:r>
            <a:br/>
            <a:r>
              <a:t>   - Hàm mất mát: Hinge vs Squared Hinge</a:t>
            </a:r>
            <a:br/>
            <a:br/>
            <a:r>
              <a:t>4. Random Forest:</a:t>
            </a:r>
            <a:br/>
            <a:r>
              <a:t>   - Số lượng cây n_estimators: [100, 200]</a:t>
            </a:r>
            <a:br/>
            <a:r>
              <a:t>   - Độ sâu tối đa max_depth: [15, 25, None]</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r>
              <a:rPr sz="2000" b="1">
                <a:solidFill>
                  <a:srgbClr val="2563EB"/>
                </a:solidFill>
                <a:latin typeface="Segoe UI"/>
              </a:rPr>
              <a:t>12. </a:t>
            </a:r>
            <a:r>
              <a:rPr sz="2000" b="1">
                <a:solidFill>
                  <a:srgbClr val="0F172A"/>
                </a:solidFill>
                <a:latin typeface="Segoe UI"/>
              </a:rPr>
              <a:t>PHƯƠNG PHÁP ĐÁNH GIÁ &amp; TIÊU CHÍ ĐO LƯỜNG CHẤT LƯỢNG</a:t>
            </a:r>
          </a:p>
        </p:txBody>
      </p:sp>
      <p:sp>
        <p:nvSpPr>
          <p:cNvPr id="4" name="Rectangle 3"/>
          <p:cNvSpPr/>
          <p:nvPr/>
        </p:nvSpPr>
        <p:spPr>
          <a:xfrm>
            <a:off x="731520" y="1188720"/>
            <a:ext cx="1072865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34134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3047695" cy="457200"/>
          </a:xfrm>
          <a:prstGeom prst="rect">
            <a:avLst/>
          </a:prstGeom>
          <a:noFill/>
        </p:spPr>
        <p:txBody>
          <a:bodyPr wrap="square" lIns="0" tIns="0" rIns="0" bIns="0">
            <a:spAutoFit/>
          </a:bodyPr>
          <a:lstStyle/>
          <a:p>
            <a:r>
              <a:rPr sz="1300" b="1">
                <a:solidFill>
                  <a:srgbClr val="2563EB"/>
                </a:solidFill>
                <a:latin typeface="Segoe UI"/>
              </a:rPr>
              <a:t>Bắt Buộc Sử Dụng Macro-F1</a:t>
            </a:r>
            <a:r>
              <a:rPr sz="1000" b="1">
                <a:solidFill>
                  <a:srgbClr val="06B6D4"/>
                </a:solidFill>
                <a:latin typeface="Segoe UI"/>
              </a:rPr>
              <a:t>  [CHỈ SỐ ĐÁNH GIÁ CHÍNH]</a:t>
            </a:r>
          </a:p>
        </p:txBody>
      </p:sp>
      <p:sp>
        <p:nvSpPr>
          <p:cNvPr id="7" name="TextBox 6"/>
          <p:cNvSpPr txBox="1"/>
          <p:nvPr/>
        </p:nvSpPr>
        <p:spPr>
          <a:xfrm>
            <a:off x="914400" y="2103120"/>
            <a:ext cx="3047695" cy="4023360"/>
          </a:xfrm>
          <a:prstGeom prst="rect">
            <a:avLst/>
          </a:prstGeom>
          <a:noFill/>
        </p:spPr>
        <p:txBody>
          <a:bodyPr wrap="square">
            <a:spAutoFit/>
          </a:bodyPr>
          <a:lstStyle/>
          <a:p>
            <a:pPr>
              <a:defRPr sz="1050">
                <a:solidFill>
                  <a:srgbClr val="475569"/>
                </a:solidFill>
              </a:defRPr>
            </a:pPr>
            <a:r>
              <a:t>• Tại sao không dùng Accuracy?</a:t>
            </a:r>
            <a:br/>
            <a:r>
              <a:t>  - Nếu mô hình chỉ đoán nhãn đa số (Other, Enjoyment) thì Accuracy vẫn đạt ~65% dù hoàn toàn bỏ sót nhãn Fear hay Surprise!</a:t>
            </a:r>
            <a:br/>
            <a:r>
              <a:t>• Macro-F1 là thước đo chuẩn mực:</a:t>
            </a:r>
            <a:br/>
            <a:r>
              <a:t>  - Tính trung bình không trọng số của F1-Score trên cả 7 nhãn.</a:t>
            </a:r>
            <a:br/>
            <a:r>
              <a:t>  - Buộc mô hình phải nhận diện tốt cả những lớp thiểu số để đạt điểm cao.</a:t>
            </a:r>
          </a:p>
        </p:txBody>
      </p:sp>
      <p:sp>
        <p:nvSpPr>
          <p:cNvPr id="8" name="Rounded Rectangle 7"/>
          <p:cNvSpPr/>
          <p:nvPr/>
        </p:nvSpPr>
        <p:spPr>
          <a:xfrm>
            <a:off x="4389120" y="1463040"/>
            <a:ext cx="34134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72000" y="1600200"/>
            <a:ext cx="3047695" cy="457200"/>
          </a:xfrm>
          <a:prstGeom prst="rect">
            <a:avLst/>
          </a:prstGeom>
          <a:noFill/>
        </p:spPr>
        <p:txBody>
          <a:bodyPr wrap="square" lIns="0" tIns="0" rIns="0" bIns="0">
            <a:spAutoFit/>
          </a:bodyPr>
          <a:lstStyle/>
          <a:p>
            <a:r>
              <a:rPr sz="1300" b="1">
                <a:solidFill>
                  <a:srgbClr val="2563EB"/>
                </a:solidFill>
                <a:latin typeface="Segoe UI"/>
              </a:rPr>
              <a:t>Confusion Matrix Heatmap</a:t>
            </a:r>
            <a:r>
              <a:rPr sz="1000" b="1">
                <a:solidFill>
                  <a:srgbClr val="06B6D4"/>
                </a:solidFill>
                <a:latin typeface="Segoe UI"/>
              </a:rPr>
              <a:t>  [MA TRẬN NHẦM LẪN]</a:t>
            </a:r>
          </a:p>
        </p:txBody>
      </p:sp>
      <p:sp>
        <p:nvSpPr>
          <p:cNvPr id="10" name="TextBox 9"/>
          <p:cNvSpPr txBox="1"/>
          <p:nvPr/>
        </p:nvSpPr>
        <p:spPr>
          <a:xfrm>
            <a:off x="4572000" y="2103120"/>
            <a:ext cx="3047695" cy="4023360"/>
          </a:xfrm>
          <a:prstGeom prst="rect">
            <a:avLst/>
          </a:prstGeom>
          <a:noFill/>
        </p:spPr>
        <p:txBody>
          <a:bodyPr wrap="square">
            <a:spAutoFit/>
          </a:bodyPr>
          <a:lstStyle/>
          <a:p>
            <a:pPr>
              <a:defRPr sz="1050">
                <a:solidFill>
                  <a:srgbClr val="475569"/>
                </a:solidFill>
              </a:defRPr>
            </a:pPr>
            <a:r>
              <a:t>• Trực quan hóa chi tiết dự đoán:</a:t>
            </a:r>
            <a:br/>
            <a:r>
              <a:t>  - Hàng: Nhãn thực tế (True Label).</a:t>
            </a:r>
            <a:br/>
            <a:r>
              <a:t>  - Cột: Nhãn dự đoán (Predicted Label).</a:t>
            </a:r>
            <a:br/>
            <a:r>
              <a:t>• Giúp phát hiện các cặp cảm xúc dễ bị nhầm lẫn:</a:t>
            </a:r>
            <a:br/>
            <a:r>
              <a:t>  - Ví dụ: Cảm xúc Anger thường bị mô hình nhầm sang Disgust do cả 2 đều dùng chung các từ ngữ tiêu cực gay gắt.</a:t>
            </a:r>
          </a:p>
        </p:txBody>
      </p:sp>
      <p:sp>
        <p:nvSpPr>
          <p:cNvPr id="11" name="Rounded Rectangle 10"/>
          <p:cNvSpPr/>
          <p:nvPr/>
        </p:nvSpPr>
        <p:spPr>
          <a:xfrm>
            <a:off x="8046720" y="1463040"/>
            <a:ext cx="3413455"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229600" y="1600200"/>
            <a:ext cx="3047695" cy="457200"/>
          </a:xfrm>
          <a:prstGeom prst="rect">
            <a:avLst/>
          </a:prstGeom>
          <a:noFill/>
        </p:spPr>
        <p:txBody>
          <a:bodyPr wrap="square" lIns="0" tIns="0" rIns="0" bIns="0">
            <a:spAutoFit/>
          </a:bodyPr>
          <a:lstStyle/>
          <a:p>
            <a:r>
              <a:rPr sz="1300" b="1">
                <a:solidFill>
                  <a:srgbClr val="2563EB"/>
                </a:solidFill>
                <a:latin typeface="Segoe UI"/>
              </a:rPr>
              <a:t>Error Analysis Chuyên Sâu</a:t>
            </a:r>
            <a:r>
              <a:rPr sz="1000" b="1">
                <a:solidFill>
                  <a:srgbClr val="06B6D4"/>
                </a:solidFill>
                <a:latin typeface="Segoe UI"/>
              </a:rPr>
              <a:t>  [PHÂN TÍCH LỖI]</a:t>
            </a:r>
          </a:p>
        </p:txBody>
      </p:sp>
      <p:sp>
        <p:nvSpPr>
          <p:cNvPr id="13" name="TextBox 12"/>
          <p:cNvSpPr txBox="1"/>
          <p:nvPr/>
        </p:nvSpPr>
        <p:spPr>
          <a:xfrm>
            <a:off x="8229600" y="2103120"/>
            <a:ext cx="3047695" cy="4023360"/>
          </a:xfrm>
          <a:prstGeom prst="rect">
            <a:avLst/>
          </a:prstGeom>
          <a:noFill/>
        </p:spPr>
        <p:txBody>
          <a:bodyPr wrap="square">
            <a:spAutoFit/>
          </a:bodyPr>
          <a:lstStyle/>
          <a:p>
            <a:pPr>
              <a:defRPr sz="1050">
                <a:solidFill>
                  <a:srgbClr val="475569"/>
                </a:solidFill>
              </a:defRPr>
            </a:pPr>
            <a:r>
              <a:t>• Lọc các câu dự đoán sai trên tập test:</a:t>
            </a:r>
            <a:br/>
            <a:r>
              <a:t>  - Mổ xẻ nguyên nhân: Do câu chứa từ mỉa mai ('dịch vụ tốt ghê 😡'), câu quá ngắn thiếu ngữ cảnh, hoặc teencode quá mới.</a:t>
            </a:r>
            <a:br/>
            <a:r>
              <a:t>• Điểm cộng học thuật:</a:t>
            </a:r>
            <a:br/>
            <a:r>
              <a:t>  - Giúp hiểu rõ giới hạn của mô hình TF-IDF truyền thống so với ngữ cảnh phức tạp của con người.</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fade">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fade">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fade">
                                      <p:cBhvr>
                                        <p:cTn id="5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P spid="11" grpId="0" animBg="1"/>
      <p:bldP spid="12" grpId="0"/>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365760"/>
            <a:ext cx="10728655" cy="822960"/>
          </a:xfrm>
          <a:prstGeom prst="rect">
            <a:avLst/>
          </a:prstGeom>
          <a:noFill/>
        </p:spPr>
        <p:txBody>
          <a:bodyPr wrap="square" lIns="0" tIns="0" rIns="0" bIns="0">
            <a:spAutoFit/>
          </a:bodyPr>
          <a:lstStyle/>
          <a:p>
            <a:r>
              <a:rPr sz="2000" b="1">
                <a:solidFill>
                  <a:srgbClr val="2563EB"/>
                </a:solidFill>
                <a:latin typeface="Segoe UI"/>
              </a:rPr>
              <a:t>13. </a:t>
            </a:r>
            <a:r>
              <a:rPr sz="2000" b="1">
                <a:solidFill>
                  <a:srgbClr val="0F172A"/>
                </a:solidFill>
                <a:latin typeface="Segoe UI"/>
              </a:rPr>
              <a:t>KẾ HOẠCH TRIỂN KHAI &amp; HƯỚNG PHÁT TRIỂN MỞ RỘNG</a:t>
            </a:r>
          </a:p>
        </p:txBody>
      </p:sp>
      <p:sp>
        <p:nvSpPr>
          <p:cNvPr id="4" name="Rectangle 3"/>
          <p:cNvSpPr/>
          <p:nvPr/>
        </p:nvSpPr>
        <p:spPr>
          <a:xfrm>
            <a:off x="731520" y="1188720"/>
            <a:ext cx="10728655"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31520" y="1463040"/>
            <a:ext cx="52120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14400" y="1600200"/>
            <a:ext cx="4846320" cy="457200"/>
          </a:xfrm>
          <a:prstGeom prst="rect">
            <a:avLst/>
          </a:prstGeom>
          <a:noFill/>
        </p:spPr>
        <p:txBody>
          <a:bodyPr wrap="square" lIns="0" tIns="0" rIns="0" bIns="0">
            <a:spAutoFit/>
          </a:bodyPr>
          <a:lstStyle/>
          <a:p>
            <a:r>
              <a:rPr sz="1300" b="1">
                <a:solidFill>
                  <a:srgbClr val="2563EB"/>
                </a:solidFill>
                <a:latin typeface="Segoe UI"/>
              </a:rPr>
              <a:t>PHÂN CÔNG CÔNG VIỆC NHÓM 5 NGƯỜI</a:t>
            </a:r>
            <a:r>
              <a:rPr sz="1000" b="1">
                <a:solidFill>
                  <a:srgbClr val="06B6D4"/>
                </a:solidFill>
                <a:latin typeface="Segoe UI"/>
              </a:rPr>
              <a:t>  [WBS &amp; TIMELINE]</a:t>
            </a:r>
          </a:p>
        </p:txBody>
      </p:sp>
      <p:sp>
        <p:nvSpPr>
          <p:cNvPr id="7" name="TextBox 6"/>
          <p:cNvSpPr txBox="1"/>
          <p:nvPr/>
        </p:nvSpPr>
        <p:spPr>
          <a:xfrm>
            <a:off x="914400" y="2011680"/>
            <a:ext cx="4846320" cy="4023360"/>
          </a:xfrm>
          <a:prstGeom prst="rect">
            <a:avLst/>
          </a:prstGeom>
          <a:noFill/>
        </p:spPr>
        <p:txBody>
          <a:bodyPr wrap="square">
            <a:spAutoFit/>
          </a:bodyPr>
          <a:lstStyle/>
          <a:p>
            <a:pPr>
              <a:defRPr sz="1050">
                <a:solidFill>
                  <a:srgbClr val="475569"/>
                </a:solidFill>
              </a:defRPr>
            </a:pPr>
            <a:r>
              <a:t>• Bùi Mai Hân: Khối Tiền xử lý dữ liệu (clean teencode/emoji) &amp; Vẽ biểu đồ EDA.</a:t>
            </a:r>
            <a:br/>
            <a:br/>
            <a:r>
              <a:t>• Vũ Đình Khôi: Khối Trích xuất TF-IDF &amp; Huấn luyện nhóm mô hình Tuyến tính (NB, SVM, LogReg).</a:t>
            </a:r>
            <a:br/>
            <a:br/>
            <a:r>
              <a:t>• Vũ Trung Kiên: Khối Thực nghiệm mô hình Cây (Decision Tree, Random Forest) &amp; Đo thời gian.</a:t>
            </a:r>
            <a:br/>
            <a:br/>
            <a:r>
              <a:t>• Nguyễn Hoàng Anh: Khối Đánh giá mô hình, lập bảng Benchmark đối đầu &amp; Phân tích lỗi (Error Analysis).</a:t>
            </a:r>
            <a:br/>
            <a:br/>
            <a:r>
              <a:t>• Hải Nam (Leader): Kiến trúc hệ thống, điều phối module, tổng hợp Slide &amp; Báo cáo kỹ thuật.</a:t>
            </a:r>
          </a:p>
        </p:txBody>
      </p:sp>
      <p:sp>
        <p:nvSpPr>
          <p:cNvPr id="8" name="Rounded Rectangle 7"/>
          <p:cNvSpPr/>
          <p:nvPr/>
        </p:nvSpPr>
        <p:spPr>
          <a:xfrm>
            <a:off x="6217920" y="1463040"/>
            <a:ext cx="5212080" cy="4846320"/>
          </a:xfrm>
          <a:prstGeom prst="roundRect">
            <a:avLst/>
          </a:prstGeom>
          <a:solidFill>
            <a:srgbClr val="FFFFFF"/>
          </a:solidFill>
          <a:ln w="1905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400800" y="1600200"/>
            <a:ext cx="4846320" cy="457200"/>
          </a:xfrm>
          <a:prstGeom prst="rect">
            <a:avLst/>
          </a:prstGeom>
          <a:noFill/>
        </p:spPr>
        <p:txBody>
          <a:bodyPr wrap="square" lIns="0" tIns="0" rIns="0" bIns="0">
            <a:spAutoFit/>
          </a:bodyPr>
          <a:lstStyle/>
          <a:p>
            <a:r>
              <a:rPr sz="1300" b="1">
                <a:solidFill>
                  <a:srgbClr val="2563EB"/>
                </a:solidFill>
                <a:latin typeface="Segoe UI"/>
              </a:rPr>
              <a:t>HƯỚNG PHÁT TRIỂN MỞ RỘNG (EXTENSION)</a:t>
            </a:r>
            <a:r>
              <a:rPr sz="1000" b="1">
                <a:solidFill>
                  <a:srgbClr val="06B6D4"/>
                </a:solidFill>
                <a:latin typeface="Segoe UI"/>
              </a:rPr>
              <a:t>  [GENAI &amp; DEPLOYMENT]</a:t>
            </a:r>
          </a:p>
        </p:txBody>
      </p:sp>
      <p:sp>
        <p:nvSpPr>
          <p:cNvPr id="10" name="TextBox 9"/>
          <p:cNvSpPr txBox="1"/>
          <p:nvPr/>
        </p:nvSpPr>
        <p:spPr>
          <a:xfrm>
            <a:off x="6400800" y="2011680"/>
            <a:ext cx="4846320" cy="4023360"/>
          </a:xfrm>
          <a:prstGeom prst="rect">
            <a:avLst/>
          </a:prstGeom>
          <a:noFill/>
        </p:spPr>
        <p:txBody>
          <a:bodyPr wrap="square">
            <a:spAutoFit/>
          </a:bodyPr>
          <a:lstStyle/>
          <a:p>
            <a:pPr>
              <a:defRPr sz="1050">
                <a:solidFill>
                  <a:srgbClr val="475569"/>
                </a:solidFill>
              </a:defRPr>
            </a:pPr>
            <a:r>
              <a:t>• 1. Tích hợp Mô hình Ngôn ngữ lớn (LLM - Google Gemini):</a:t>
            </a:r>
            <a:br/>
            <a:r>
              <a:t>  - Sau khi chọn được mô hình học máy tối ưu, kết nối API LLM để tự động sinh câu trả lời chăm sóc khách hàng phù hợp với cảm xúc (Khách giận dữ -&gt; Xin lỗi &amp; bồi thường; Khách hài lòng -&gt; Tri ân &amp; giữ chân).</a:t>
            </a:r>
            <a:br/>
            <a:br/>
            <a:r>
              <a:t>• 2. Xây dựng Giao diện Demo tương tác (Streamlit Web UI):</a:t>
            </a:r>
            <a:br/>
            <a:r>
              <a:t>  - Cho phép người dùng nhập trực tiếp câu bình luận, hiển thị nhãn cảm xúc dự đoán và câu trả lời mẫu theo thời gian thực.</a:t>
            </a:r>
            <a:br/>
            <a:br/>
            <a:r>
              <a:t>• 3. Đóng gói hệ thống (Docker Compose):</a:t>
            </a:r>
            <a:br/>
            <a:r>
              <a:t>  - Đóng gói toàn bộ mã nguồn vào Docker container để chạy demo mượt mà trên mọi máy tính.</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fade">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371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1371600"/>
            <a:ext cx="10362895" cy="2011680"/>
          </a:xfrm>
          <a:prstGeom prst="rect">
            <a:avLst/>
          </a:prstGeom>
          <a:noFill/>
        </p:spPr>
        <p:txBody>
          <a:bodyPr wrap="square">
            <a:spAutoFit/>
          </a:bodyPr>
          <a:lstStyle/>
          <a:p>
            <a:r>
              <a:rPr sz="1800" b="1">
                <a:solidFill>
                  <a:srgbClr val="06B6D4"/>
                </a:solidFill>
                <a:latin typeface="Segoe UI"/>
              </a:rPr>
              <a:t>14. KẾT LUẬN &amp; GIÁ TRỊ ĐÓNG GÓP
</a:t>
            </a:r>
          </a:p>
          <a:p>
            <a:r>
              <a:rPr sz="2800" b="1">
                <a:solidFill>
                  <a:srgbClr val="F8FAFC"/>
                </a:solidFill>
                <a:latin typeface="Segoe UI"/>
              </a:rPr>
              <a:t>Tổng Kết Ý Tưởng Đề Tài Bài Tập Lớn</a:t>
            </a:r>
          </a:p>
        </p:txBody>
      </p:sp>
      <p:sp>
        <p:nvSpPr>
          <p:cNvPr id="5" name="Rounded Rectangle 4"/>
          <p:cNvSpPr/>
          <p:nvPr/>
        </p:nvSpPr>
        <p:spPr>
          <a:xfrm>
            <a:off x="914400" y="3108960"/>
            <a:ext cx="10362895" cy="2926080"/>
          </a:xfrm>
          <a:prstGeom prst="roundRect">
            <a:avLst/>
          </a:prstGeom>
          <a:solidFill>
            <a:srgbClr val="1E293B"/>
          </a:solidFill>
          <a:ln w="1905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188720" y="3291840"/>
            <a:ext cx="9814255" cy="2560320"/>
          </a:xfrm>
          <a:prstGeom prst="rect">
            <a:avLst/>
          </a:prstGeom>
          <a:noFill/>
        </p:spPr>
        <p:txBody>
          <a:bodyPr wrap="square">
            <a:spAutoFit/>
          </a:bodyPr>
          <a:lstStyle/>
          <a:p>
            <a:pPr>
              <a:defRPr sz="1200">
                <a:solidFill>
                  <a:srgbClr val="F8FAFC"/>
                </a:solidFill>
              </a:defRPr>
            </a:pPr>
            <a:r>
              <a:t>• Đóng góp khoa học &amp; thực tiễn của đề tài:</a:t>
            </a:r>
            <a:br/>
            <a:r>
              <a:t>  1. Xây dựng quy trình tiền xử lý văn bản tiếng Việt hoàn chỉnh (chuẩn hóa teencode, lọc nhiễu, emoji).</a:t>
            </a:r>
            <a:br/>
            <a:r>
              <a:t>  2. Nghiên cứu thực nghiệm đối đầu bài bản giữa 5 mô hình học máy truyền thống trên ma trận đặc trưng TF-IDF N-grams.</a:t>
            </a:r>
            <a:br/>
            <a:r>
              <a:t>  3. Đánh giá đa chiều qua Macro-F1, Confusion Matrix, chi phí thời gian huấn luyện và phân tích lỗi thực tế.</a:t>
            </a:r>
            <a:br/>
            <a:r>
              <a:t>  4. Định hướng mở rộng gắn kết ứng dụng thực tiễn với GenAI và ứng dụng Web Demo.</a:t>
            </a:r>
          </a:p>
          <a:p>
            <a:br/>
            <a:r>
              <a:t>CHÂN THÀNH CẢM ƠN THẦY/CÔ VÀ CÁC BẠN ĐÃ LẮNG NGHE! XIN MỜI ĐẶT CÂU HỎI (Q&amp;A)</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TotalTime>
  <Words>4040</Words>
  <Application>Microsoft Office PowerPoint</Application>
  <PresentationFormat>Widescreen</PresentationFormat>
  <Paragraphs>117</Paragraphs>
  <Slides>15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Nguyen Hai Nam 202516198</cp:lastModifiedBy>
  <cp:revision>3</cp:revision>
  <dcterms:created xsi:type="dcterms:W3CDTF">2013-01-27T09:14:16Z</dcterms:created>
  <dcterms:modified xsi:type="dcterms:W3CDTF">2026-10-13T15:15:00Z</dcterms:modified>
  <cp:category/>
</cp:coreProperties>
</file>